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65" r:id="rId4"/>
    <p:sldId id="257" r:id="rId5"/>
    <p:sldId id="266" r:id="rId6"/>
    <p:sldId id="259" r:id="rId7"/>
    <p:sldId id="279" r:id="rId8"/>
    <p:sldId id="260" r:id="rId9"/>
    <p:sldId id="258" r:id="rId10"/>
    <p:sldId id="261" r:id="rId11"/>
    <p:sldId id="262" r:id="rId12"/>
    <p:sldId id="263" r:id="rId13"/>
    <p:sldId id="268" r:id="rId14"/>
    <p:sldId id="278" r:id="rId15"/>
    <p:sldId id="264" r:id="rId16"/>
    <p:sldId id="267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>
        <p:scale>
          <a:sx n="75" d="100"/>
          <a:sy n="75" d="100"/>
        </p:scale>
        <p:origin x="485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A9FCF-0192-D348-0290-7A8F1DA91C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197271-484F-87E0-1204-CCC77AF67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33614-D998-AC4A-593D-97A9BDAA2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9AE48E-0992-244D-EBF8-F52A7A3D1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2BE955-16AE-0537-E7D2-0BDBC818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1277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8D97C0-0FAA-3320-3DCE-06D8FE9B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8E93C8-070F-99A8-51E9-C3425BA42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95F86-C5E0-596A-AF60-E2E0A0DB5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A67FD5-B62E-92D9-7584-5356EDFE6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A3EA8C-6804-3585-1636-89BA021D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5884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F42B4F-D44B-588A-5857-0A23677DF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5FEC17-5385-E48A-9180-BAC1A80B3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68AA6A-F6F5-4C6A-30C5-B38E9393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FA92A4-39B1-FA30-63EF-FC2A3B7F5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48AF60-0F72-F809-95FC-F009B79B8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9185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04147B-7AE4-C71D-7A57-204D4442E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6EAA0D-3C1C-E3FF-3BAB-E48C99AEB7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A31A60-BD18-9461-66E2-778CB6A7E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8EF387-31D9-E2E8-1A1E-BD064A960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7C3DF0-63BF-2215-811C-13EC2E299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47ADFF-BCD0-BE78-BD34-53372843B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591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71441-4F58-661F-D240-3BCAA3BD3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102583-5D01-F61E-5B94-29D1F876E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B30811-718B-23ED-321C-BE54D63F0F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4DC19B-A66E-509D-5EEA-F7C16305D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C2BCEA-2C69-6C57-E97E-FE50E14856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2408AA2-11D1-6AAB-1F09-C629C5E0D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C42187-F1D6-FA89-D22A-8CD5A6C6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3105B1-9F02-0955-4B4D-2A8AA81F1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104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BD3EB-61C5-9190-986F-8BF14AD48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C8CD4FA-10A4-74C5-B826-3187C6D1B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03C087-676D-F965-D187-8174B104C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46E850-445C-5011-6335-81FF8F2EA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15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8E6EDA3-D8E3-7287-0603-5AE502429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C6C5F2-0C0A-123A-BD25-A0FCDE59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3D716C-C78D-79D4-8DCA-BFB7C7E81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836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F5A593-4F19-19F7-486D-8CB45166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11488C-B70A-EBF4-0FF2-11CE27A01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B6F044C-BA05-935A-308E-4BB4C9BF5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27A5DB-9E8B-ECE7-BA3D-D67B9D341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CFE8A3-BDD4-4379-98D1-3768E784B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CEC3E9-A044-F36F-BA0D-C2CCEA5F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693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94DA6-F193-B15C-6CD8-1BD288618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EC8227D-0CC9-3A2F-5778-890B4B3B4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83C4980-C7CB-D978-FBED-20F15E98C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3F0482-056D-DC24-6E36-8CF00FF5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F7C61F-8E5E-9F7B-0462-7BB39884A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93B40C-B349-9897-972F-09C360AE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404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C6C06-565F-3640-6501-0CEF8516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B06D06-ADEC-D75B-E2EE-97D756973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14BED5-8035-1A1D-5C7D-C1238A042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7C7CB6-DDAF-4868-5DDF-7F23DAFE3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9FEB23-C3A4-26BE-0B5F-5FBDE266B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61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2DED2C5-ECF5-63D1-8DD8-3E9B5E2387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FE032E-8B6B-B01E-C75D-D28EB942F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09366D-6C83-3C9C-6008-8A1FDDDBC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0AC179-8324-5776-E3E6-9904A6C8F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AB18B2-650D-F211-E1F4-B44B839E0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612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CA6D918-46AE-E99B-57AC-A6BADDBC7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1BA580-438A-C429-B69D-E7A92B442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DE39BB-4C01-832D-D9A0-2A5405C8D6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2EEF2-271F-495E-B4A0-FE67426B27F2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175188-19FA-1498-539B-977E0C3D7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600396-3AA4-43F0-264D-0BA0D20402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9E1BF0-68B6-4811-802E-FB715A47E9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085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hospitalmap.duckdns.org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750DC-87A4-45CD-E324-F535D8C1DE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/>
              <a:t>프로젝트 구현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캡스톤 디자인</a:t>
            </a:r>
            <a:r>
              <a:rPr lang="en-US" altLang="ko-KR"/>
              <a:t>)</a:t>
            </a:r>
            <a:br>
              <a:rPr lang="en-US" altLang="ko-KR"/>
            </a:br>
            <a:r>
              <a:rPr lang="ko-KR" altLang="en-US"/>
              <a:t>최종 발표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D670FF-0301-B802-2C70-74F44F7F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70718"/>
            <a:ext cx="9144000" cy="659066"/>
          </a:xfrm>
        </p:spPr>
        <p:txBody>
          <a:bodyPr/>
          <a:lstStyle/>
          <a:p>
            <a:r>
              <a:rPr lang="ko-KR" altLang="en-US"/>
              <a:t>평균 </a:t>
            </a:r>
            <a:r>
              <a:rPr lang="en-US" altLang="ko-KR"/>
              <a:t>25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044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3F41AF-47D9-6F36-5CE5-360D4D8BD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495" y="2766218"/>
            <a:ext cx="2581656" cy="1325563"/>
          </a:xfrm>
        </p:spPr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8A8744A-7002-5AA2-F08D-6EB2342998F1}"/>
              </a:ext>
            </a:extLst>
          </p:cNvPr>
          <p:cNvGrpSpPr/>
          <p:nvPr/>
        </p:nvGrpSpPr>
        <p:grpSpPr>
          <a:xfrm>
            <a:off x="4761589" y="747098"/>
            <a:ext cx="7750016" cy="1194911"/>
            <a:chOff x="474038" y="2773163"/>
            <a:chExt cx="7750016" cy="1194911"/>
          </a:xfrm>
        </p:grpSpPr>
        <p:pic>
          <p:nvPicPr>
            <p:cNvPr id="5" name="Image 1" descr="preencoded.png">
              <a:extLst>
                <a:ext uri="{FF2B5EF4-FFF2-40B4-BE49-F238E27FC236}">
                  <a16:creationId xmlns:a16="http://schemas.microsoft.com/office/drawing/2014/main" id="{A2734988-F3D0-2502-46F0-05883EEBE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038" y="2773163"/>
              <a:ext cx="995720" cy="1194911"/>
            </a:xfrm>
            <a:prstGeom prst="rect">
              <a:avLst/>
            </a:prstGeom>
          </p:spPr>
        </p:pic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B201AF0E-FF4C-5799-5BC3-02344551D63F}"/>
                </a:ext>
              </a:extLst>
            </p:cNvPr>
            <p:cNvSpPr/>
            <p:nvPr/>
          </p:nvSpPr>
          <p:spPr>
            <a:xfrm>
              <a:off x="1668830" y="2972236"/>
              <a:ext cx="2489478" cy="31111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272525"/>
                  </a:solidFill>
                  <a:latin typeface="Gelasio" pitchFamily="34" charset="0"/>
                  <a:ea typeface="Gelasio" pitchFamily="34" charset="-122"/>
                  <a:cs typeface="Gelasio" pitchFamily="34" charset="-120"/>
                </a:rPr>
                <a:t>프로젝트 개요</a:t>
              </a:r>
              <a:endParaRPr lang="en-US" sz="1950" dirty="0"/>
            </a:p>
          </p:txBody>
        </p:sp>
        <p:sp>
          <p:nvSpPr>
            <p:cNvPr id="7" name="Text 2">
              <a:extLst>
                <a:ext uri="{FF2B5EF4-FFF2-40B4-BE49-F238E27FC236}">
                  <a16:creationId xmlns:a16="http://schemas.microsoft.com/office/drawing/2014/main" id="{A5968AEF-9388-5756-8DA4-CFEBB341A63B}"/>
                </a:ext>
              </a:extLst>
            </p:cNvPr>
            <p:cNvSpPr/>
            <p:nvPr/>
          </p:nvSpPr>
          <p:spPr>
            <a:xfrm>
              <a:off x="1668830" y="3402766"/>
              <a:ext cx="6555224" cy="3186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55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팀 소개, 프로젝트 주제 및 특장점</a:t>
              </a:r>
              <a:endParaRPr lang="en-US" sz="155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7BB6151-8449-3CDA-C86E-EC442E7B0507}"/>
              </a:ext>
            </a:extLst>
          </p:cNvPr>
          <p:cNvGrpSpPr/>
          <p:nvPr/>
        </p:nvGrpSpPr>
        <p:grpSpPr>
          <a:xfrm>
            <a:off x="4761589" y="2094335"/>
            <a:ext cx="7750016" cy="1194911"/>
            <a:chOff x="6537614" y="2599174"/>
            <a:chExt cx="7750016" cy="1194911"/>
          </a:xfrm>
        </p:grpSpPr>
        <p:pic>
          <p:nvPicPr>
            <p:cNvPr id="8" name="Image 2" descr="preencoded.png">
              <a:extLst>
                <a:ext uri="{FF2B5EF4-FFF2-40B4-BE49-F238E27FC236}">
                  <a16:creationId xmlns:a16="http://schemas.microsoft.com/office/drawing/2014/main" id="{DC33BC86-0189-EEFB-0A59-DA21383BF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7614" y="2599174"/>
              <a:ext cx="995720" cy="1194911"/>
            </a:xfrm>
            <a:prstGeom prst="rect">
              <a:avLst/>
            </a:prstGeom>
          </p:spPr>
        </p:pic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2D8C7589-8D54-83CE-EC48-CD2771113C91}"/>
                </a:ext>
              </a:extLst>
            </p:cNvPr>
            <p:cNvSpPr/>
            <p:nvPr/>
          </p:nvSpPr>
          <p:spPr>
            <a:xfrm>
              <a:off x="7732406" y="2798247"/>
              <a:ext cx="2489478" cy="31111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272525"/>
                  </a:solidFill>
                  <a:latin typeface="Gelasio" pitchFamily="34" charset="0"/>
                  <a:ea typeface="Gelasio" pitchFamily="34" charset="-122"/>
                  <a:cs typeface="Gelasio" pitchFamily="34" charset="-120"/>
                </a:rPr>
                <a:t>프로젝트 설계</a:t>
              </a:r>
              <a:endParaRPr lang="en-US" sz="1950" dirty="0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0651C50-C481-A865-13F6-3189F59E37FE}"/>
                </a:ext>
              </a:extLst>
            </p:cNvPr>
            <p:cNvSpPr/>
            <p:nvPr/>
          </p:nvSpPr>
          <p:spPr>
            <a:xfrm>
              <a:off x="7732406" y="3228777"/>
              <a:ext cx="6555224" cy="3186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55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아키텍처, 스토리보드, 화면, 데이터베이스 설계</a:t>
              </a:r>
              <a:endParaRPr lang="en-US" sz="1550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5A2FC6F-3641-D7E5-D590-750FF6F90933}"/>
              </a:ext>
            </a:extLst>
          </p:cNvPr>
          <p:cNvGrpSpPr/>
          <p:nvPr/>
        </p:nvGrpSpPr>
        <p:grpSpPr>
          <a:xfrm>
            <a:off x="4761589" y="3428999"/>
            <a:ext cx="7750016" cy="1194911"/>
            <a:chOff x="2853344" y="4047847"/>
            <a:chExt cx="7750016" cy="1194911"/>
          </a:xfrm>
        </p:grpSpPr>
        <p:pic>
          <p:nvPicPr>
            <p:cNvPr id="11" name="Image 3" descr="preencoded.png">
              <a:extLst>
                <a:ext uri="{FF2B5EF4-FFF2-40B4-BE49-F238E27FC236}">
                  <a16:creationId xmlns:a16="http://schemas.microsoft.com/office/drawing/2014/main" id="{FD4E5B04-FBC4-8FBC-8D1F-46855FB4C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53344" y="4047847"/>
              <a:ext cx="995720" cy="1194911"/>
            </a:xfrm>
            <a:prstGeom prst="rect">
              <a:avLst/>
            </a:prstGeom>
          </p:spPr>
        </p:pic>
        <p:sp>
          <p:nvSpPr>
            <p:cNvPr id="12" name="Text 5">
              <a:extLst>
                <a:ext uri="{FF2B5EF4-FFF2-40B4-BE49-F238E27FC236}">
                  <a16:creationId xmlns:a16="http://schemas.microsoft.com/office/drawing/2014/main" id="{36838107-128F-CAF1-C43A-9BD4F3723E6F}"/>
                </a:ext>
              </a:extLst>
            </p:cNvPr>
            <p:cNvSpPr/>
            <p:nvPr/>
          </p:nvSpPr>
          <p:spPr>
            <a:xfrm>
              <a:off x="4048136" y="4246919"/>
              <a:ext cx="2489478" cy="31111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272525"/>
                  </a:solidFill>
                  <a:latin typeface="Gelasio" pitchFamily="34" charset="0"/>
                  <a:ea typeface="Gelasio" pitchFamily="34" charset="-122"/>
                  <a:cs typeface="Gelasio" pitchFamily="34" charset="-120"/>
                </a:rPr>
                <a:t>프로젝트 구현</a:t>
              </a:r>
              <a:endParaRPr lang="en-US" sz="1950" dirty="0"/>
            </a:p>
          </p:txBody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08ACFA5B-24B2-7D33-B6CC-12B14E93B5D7}"/>
                </a:ext>
              </a:extLst>
            </p:cNvPr>
            <p:cNvSpPr/>
            <p:nvPr/>
          </p:nvSpPr>
          <p:spPr>
            <a:xfrm>
              <a:off x="4048136" y="4677449"/>
              <a:ext cx="6555224" cy="3186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55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개발환경, 구현 기능 및 시연</a:t>
              </a:r>
              <a:endParaRPr lang="en-US" sz="1550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5C4A38-AAF1-A678-2343-8CA91353D06E}"/>
              </a:ext>
            </a:extLst>
          </p:cNvPr>
          <p:cNvGrpSpPr/>
          <p:nvPr/>
        </p:nvGrpSpPr>
        <p:grpSpPr>
          <a:xfrm>
            <a:off x="4761589" y="4795808"/>
            <a:ext cx="7750016" cy="1194911"/>
            <a:chOff x="2853344" y="5242758"/>
            <a:chExt cx="7750016" cy="1194911"/>
          </a:xfrm>
        </p:grpSpPr>
        <p:pic>
          <p:nvPicPr>
            <p:cNvPr id="14" name="Image 4" descr="preencoded.png">
              <a:extLst>
                <a:ext uri="{FF2B5EF4-FFF2-40B4-BE49-F238E27FC236}">
                  <a16:creationId xmlns:a16="http://schemas.microsoft.com/office/drawing/2014/main" id="{AC21FE61-9ED6-FFC9-2E5A-DFF9EFFF8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53344" y="5242758"/>
              <a:ext cx="995720" cy="1194911"/>
            </a:xfrm>
            <a:prstGeom prst="rect">
              <a:avLst/>
            </a:prstGeom>
          </p:spPr>
        </p:pic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B610D6B4-C844-C3D6-ABFD-B1D0A2153188}"/>
                </a:ext>
              </a:extLst>
            </p:cNvPr>
            <p:cNvSpPr/>
            <p:nvPr/>
          </p:nvSpPr>
          <p:spPr>
            <a:xfrm>
              <a:off x="4048136" y="5441830"/>
              <a:ext cx="2489478" cy="31111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dirty="0">
                  <a:solidFill>
                    <a:srgbClr val="272525"/>
                  </a:solidFill>
                  <a:latin typeface="Gelasio" pitchFamily="34" charset="0"/>
                  <a:ea typeface="Gelasio" pitchFamily="34" charset="-122"/>
                  <a:cs typeface="Gelasio" pitchFamily="34" charset="-120"/>
                </a:rPr>
                <a:t>결과 및 고찰</a:t>
              </a:r>
              <a:endParaRPr lang="en-US" sz="1950" dirty="0"/>
            </a:p>
          </p:txBody>
        </p:sp>
        <p:sp>
          <p:nvSpPr>
            <p:cNvPr id="16" name="Text 8">
              <a:extLst>
                <a:ext uri="{FF2B5EF4-FFF2-40B4-BE49-F238E27FC236}">
                  <a16:creationId xmlns:a16="http://schemas.microsoft.com/office/drawing/2014/main" id="{5C4D28AB-D66F-5842-B3EA-AA30132BAC6A}"/>
                </a:ext>
              </a:extLst>
            </p:cNvPr>
            <p:cNvSpPr/>
            <p:nvPr/>
          </p:nvSpPr>
          <p:spPr>
            <a:xfrm>
              <a:off x="4048136" y="5872360"/>
              <a:ext cx="6555224" cy="3186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55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진행 계획, 소감 및 어려웠던 점</a:t>
              </a:r>
              <a:endParaRPr lang="en-US" sz="155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2604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0A45B22F-20E0-A248-642F-CB428E718512}"/>
              </a:ext>
            </a:extLst>
          </p:cNvPr>
          <p:cNvSpPr/>
          <p:nvPr/>
        </p:nvSpPr>
        <p:spPr>
          <a:xfrm>
            <a:off x="4370070" y="3118961"/>
            <a:ext cx="1725930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ko-KR" altLang="en-US" sz="4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프로젝트 개요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09133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1">
            <a:extLst>
              <a:ext uri="{FF2B5EF4-FFF2-40B4-BE49-F238E27FC236}">
                <a16:creationId xmlns:a16="http://schemas.microsoft.com/office/drawing/2014/main" id="{8C86A16A-3ABA-B15C-8E1F-BDBA09444F51}"/>
              </a:ext>
            </a:extLst>
          </p:cNvPr>
          <p:cNvSpPr/>
          <p:nvPr/>
        </p:nvSpPr>
        <p:spPr>
          <a:xfrm>
            <a:off x="1821942" y="1488101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8EEC4F55-884E-DF5A-E7F9-2CCDE213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356" y="1525308"/>
            <a:ext cx="297656" cy="372070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5CB99DFA-AF70-3FCA-C6E1-7A2F7AD8EDDC}"/>
              </a:ext>
            </a:extLst>
          </p:cNvPr>
          <p:cNvSpPr/>
          <p:nvPr/>
        </p:nvSpPr>
        <p:spPr>
          <a:xfrm>
            <a:off x="2466784" y="155632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팀명: 평균 25</a:t>
            </a:r>
            <a:endParaRPr lang="en-US" sz="195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7E93512-C19F-134C-1C5C-E9C43D4BFD7F}"/>
              </a:ext>
            </a:extLst>
          </p:cNvPr>
          <p:cNvSpPr/>
          <p:nvPr/>
        </p:nvSpPr>
        <p:spPr>
          <a:xfrm>
            <a:off x="2466784" y="1985544"/>
            <a:ext cx="6911578" cy="438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ko-KR" alt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저희 팀원들의 나이의 평균을 내면 평균 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</a:t>
            </a:r>
            <a:r>
              <a:rPr lang="ko-KR" alt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이어서 지은 </a:t>
            </a:r>
            <a:r>
              <a:rPr lang="ko-KR" alt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팀명입니다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550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5DF9B32-13AB-A441-18BD-0D9CF58AD493}"/>
              </a:ext>
            </a:extLst>
          </p:cNvPr>
          <p:cNvGrpSpPr/>
          <p:nvPr/>
        </p:nvGrpSpPr>
        <p:grpSpPr>
          <a:xfrm>
            <a:off x="1849683" y="3220055"/>
            <a:ext cx="3125747" cy="446484"/>
            <a:chOff x="2023110" y="3043714"/>
            <a:chExt cx="3125747" cy="446484"/>
          </a:xfrm>
        </p:grpSpPr>
        <p:sp>
          <p:nvSpPr>
            <p:cNvPr id="11" name="Shape 4">
              <a:extLst>
                <a:ext uri="{FF2B5EF4-FFF2-40B4-BE49-F238E27FC236}">
                  <a16:creationId xmlns:a16="http://schemas.microsoft.com/office/drawing/2014/main" id="{F5D1692E-BCA4-6656-8955-EBBE1630B5FA}"/>
                </a:ext>
              </a:extLst>
            </p:cNvPr>
            <p:cNvSpPr/>
            <p:nvPr/>
          </p:nvSpPr>
          <p:spPr>
            <a:xfrm>
              <a:off x="2023110" y="3043714"/>
              <a:ext cx="446484" cy="446484"/>
            </a:xfrm>
            <a:prstGeom prst="roundRect">
              <a:avLst>
                <a:gd name="adj" fmla="val 18670"/>
              </a:avLst>
            </a:prstGeom>
            <a:solidFill>
              <a:srgbClr val="DADBF1"/>
            </a:solidFill>
            <a:ln w="762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2" descr="preencoded.png">
              <a:extLst>
                <a:ext uri="{FF2B5EF4-FFF2-40B4-BE49-F238E27FC236}">
                  <a16:creationId xmlns:a16="http://schemas.microsoft.com/office/drawing/2014/main" id="{9491A0FB-5192-2ECB-87E8-992BB86ED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7524" y="3118068"/>
              <a:ext cx="297656" cy="297656"/>
            </a:xfrm>
            <a:prstGeom prst="rect">
              <a:avLst/>
            </a:prstGeom>
          </p:spPr>
        </p:pic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77007089-97A7-F751-2DC4-FF3670005B7A}"/>
                </a:ext>
              </a:extLst>
            </p:cNvPr>
            <p:cNvSpPr/>
            <p:nvPr/>
          </p:nvSpPr>
          <p:spPr>
            <a:xfrm>
              <a:off x="2667952" y="3111937"/>
              <a:ext cx="2480905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팀원 구성</a:t>
              </a:r>
              <a:endParaRPr lang="en-US" sz="1950" dirty="0"/>
            </a:p>
          </p:txBody>
        </p:sp>
      </p:grpSp>
      <p:sp>
        <p:nvSpPr>
          <p:cNvPr id="14" name="Text 6">
            <a:extLst>
              <a:ext uri="{FF2B5EF4-FFF2-40B4-BE49-F238E27FC236}">
                <a16:creationId xmlns:a16="http://schemas.microsoft.com/office/drawing/2014/main" id="{094D8182-D778-D53A-43C6-FFFD63AADD79}"/>
              </a:ext>
            </a:extLst>
          </p:cNvPr>
          <p:cNvSpPr/>
          <p:nvPr/>
        </p:nvSpPr>
        <p:spPr>
          <a:xfrm>
            <a:off x="2466784" y="4171639"/>
            <a:ext cx="69115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배한결: </a:t>
            </a:r>
            <a:r>
              <a:rPr 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프론트엔드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개발</a:t>
            </a:r>
            <a:endParaRPr lang="en-US" sz="155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8B9C9575-939A-5A87-358A-AA99EC1A0207}"/>
              </a:ext>
            </a:extLst>
          </p:cNvPr>
          <p:cNvSpPr/>
          <p:nvPr/>
        </p:nvSpPr>
        <p:spPr>
          <a:xfrm>
            <a:off x="2466784" y="4592341"/>
            <a:ext cx="69115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박민성: 인프라/배포/프론트엔드 담당</a:t>
            </a:r>
            <a:endParaRPr lang="en-US" sz="155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F51A5963-C420-A794-268D-B9D885B2D16F}"/>
              </a:ext>
            </a:extLst>
          </p:cNvPr>
          <p:cNvSpPr/>
          <p:nvPr/>
        </p:nvSpPr>
        <p:spPr>
          <a:xfrm>
            <a:off x="2466784" y="4984136"/>
            <a:ext cx="69115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유희태: </a:t>
            </a:r>
            <a:r>
              <a:rPr 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백엔드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개발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55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131B3A27-658C-7D8C-66F4-1DB9CA8CB586}"/>
              </a:ext>
            </a:extLst>
          </p:cNvPr>
          <p:cNvSpPr/>
          <p:nvPr/>
        </p:nvSpPr>
        <p:spPr>
          <a:xfrm>
            <a:off x="2466784" y="3779844"/>
            <a:ext cx="6911578" cy="371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이희재(</a:t>
            </a:r>
            <a:r>
              <a:rPr 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팀장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):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ko-KR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데이터베이스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altLang="ko-KR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설계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ko-KR" altLang="en-US" sz="15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벡엔드</a:t>
            </a:r>
            <a:r>
              <a:rPr lang="ko-KR" alt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일부 참여</a:t>
            </a:r>
            <a:r>
              <a:rPr lang="en-US" altLang="ko-KR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ko-KR" alt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문서 작업 전담</a:t>
            </a:r>
            <a:endParaRPr lang="en-US" sz="155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6D7CE5-FFC2-9D25-138F-85FEA108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7582" y="162538"/>
            <a:ext cx="2116836" cy="1325563"/>
          </a:xfrm>
        </p:spPr>
        <p:txBody>
          <a:bodyPr/>
          <a:lstStyle/>
          <a:p>
            <a:r>
              <a:rPr lang="ko-KR" altLang="en-US" dirty="0"/>
              <a:t>팀 소개</a:t>
            </a:r>
          </a:p>
        </p:txBody>
      </p:sp>
    </p:spTree>
    <p:extLst>
      <p:ext uri="{BB962C8B-B14F-4D97-AF65-F5344CB8AC3E}">
        <p14:creationId xmlns:p14="http://schemas.microsoft.com/office/powerpoint/2010/main" val="962881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C27718-3A28-6670-DBB1-6002C8892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1376" y="2766218"/>
            <a:ext cx="3889248" cy="1325563"/>
          </a:xfrm>
        </p:spPr>
        <p:txBody>
          <a:bodyPr/>
          <a:lstStyle/>
          <a:p>
            <a:r>
              <a:rPr lang="ko-KR" altLang="en-US" b="1" dirty="0"/>
              <a:t>프로젝트 소개</a:t>
            </a:r>
          </a:p>
        </p:txBody>
      </p:sp>
    </p:spTree>
    <p:extLst>
      <p:ext uri="{BB962C8B-B14F-4D97-AF65-F5344CB8AC3E}">
        <p14:creationId xmlns:p14="http://schemas.microsoft.com/office/powerpoint/2010/main" val="2313435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034FA-88DF-FA96-CD34-77D245289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8FD4-04EB-8D2E-191C-EA0B94A3C67F}"/>
              </a:ext>
            </a:extLst>
          </p:cNvPr>
          <p:cNvSpPr txBox="1"/>
          <p:nvPr/>
        </p:nvSpPr>
        <p:spPr>
          <a:xfrm>
            <a:off x="6657715" y="467271"/>
            <a:ext cx="4195674" cy="20525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2200" b="1" dirty="0">
                <a:latin typeface="+mj-lt"/>
                <a:ea typeface="+mj-ea"/>
                <a:cs typeface="+mj-cs"/>
              </a:rPr>
              <a:t>프로젝트 명</a:t>
            </a:r>
            <a:endParaRPr lang="en-US" altLang="ko-KR" sz="2200" b="1" dirty="0">
              <a:latin typeface="+mj-lt"/>
              <a:ea typeface="+mj-ea"/>
              <a:cs typeface="+mj-cs"/>
            </a:endParaRPr>
          </a:p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ko-KR" sz="2200" b="1" dirty="0">
              <a:latin typeface="+mj-lt"/>
              <a:ea typeface="+mj-ea"/>
              <a:cs typeface="+mj-cs"/>
            </a:endParaRPr>
          </a:p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2200" b="1" dirty="0">
                <a:latin typeface="+mj-lt"/>
                <a:ea typeface="+mj-ea"/>
                <a:cs typeface="+mj-cs"/>
              </a:rPr>
              <a:t>정보 취약 계층 맞춤형 병원정보 제공 웹 애플리케이션</a:t>
            </a:r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1ABB6D7-AD12-75F8-5CB8-9F6B38A428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58" b="2993"/>
          <a:stretch>
            <a:fillRect/>
          </a:stretch>
        </p:blipFill>
        <p:spPr bwMode="auto"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7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82B297-5233-9B20-04CE-BF5FAF3FAE1F}"/>
              </a:ext>
            </a:extLst>
          </p:cNvPr>
          <p:cNvSpPr txBox="1"/>
          <p:nvPr/>
        </p:nvSpPr>
        <p:spPr>
          <a:xfrm>
            <a:off x="6657715" y="2990818"/>
            <a:ext cx="4195673" cy="2913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latinLnBrk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고령화 사회에서 정보 취약 계층을 위한 맞춤형 병원정보 제공 서비스를 개발했습니다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. </a:t>
            </a: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우리 팀은 고령층이 디지털 기술 접근에 어려움을 겪는 현실에서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공공 데이터 기반의 신뢰성 높은 의료정보를 쉽고 빠르게 제공하는 웹 애플리케이션을 구현했습니다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pPr indent="-228600" latinLnBrk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>
              <a:solidFill>
                <a:schemeClr val="tx1">
                  <a:alpha val="80000"/>
                </a:schemeClr>
              </a:solidFill>
            </a:endParaRPr>
          </a:p>
          <a:p>
            <a:pPr indent="-228600" latinLnBrk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본 프로젝트는 직관적인 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UI/UX, </a:t>
            </a: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음성 안내 기능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ko-KR" altLang="en-US" sz="1400">
                <a:solidFill>
                  <a:schemeClr val="tx1">
                    <a:alpha val="80000"/>
                  </a:schemeClr>
                </a:solidFill>
              </a:rPr>
              <a:t>위치 기반 자동 추천 등의 특장점을 통해 정보 취약 계층의 의료 정보 접근성을 높이고 건강한 일상생활을 지원하고자 합니다</a:t>
            </a:r>
            <a:r>
              <a:rPr lang="en-US" altLang="ko-KR" sz="1400">
                <a:solidFill>
                  <a:schemeClr val="tx1">
                    <a:alpha val="80000"/>
                  </a:schemeClr>
                </a:solidFill>
              </a:rPr>
              <a:t>.</a:t>
            </a:r>
          </a:p>
        </p:txBody>
      </p:sp>
      <p:sp>
        <p:nvSpPr>
          <p:cNvPr id="1039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041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26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0EBBC-0477-A4FB-175E-C0FB00718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85" y="345028"/>
            <a:ext cx="2950029" cy="1325563"/>
          </a:xfrm>
        </p:spPr>
        <p:txBody>
          <a:bodyPr/>
          <a:lstStyle/>
          <a:p>
            <a:r>
              <a:rPr lang="ko-KR" altLang="en-US" dirty="0"/>
              <a:t>개발 일정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F3CE74C-0871-ACD9-9781-704BF8011F62}"/>
              </a:ext>
            </a:extLst>
          </p:cNvPr>
          <p:cNvSpPr/>
          <p:nvPr/>
        </p:nvSpPr>
        <p:spPr>
          <a:xfrm>
            <a:off x="871651" y="1454730"/>
            <a:ext cx="22860" cy="4733806"/>
          </a:xfrm>
          <a:prstGeom prst="roundRect">
            <a:avLst>
              <a:gd name="adj" fmla="val 1313584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4CDEDA7F-E922-8A80-5A6A-797E6357A2C2}"/>
              </a:ext>
            </a:extLst>
          </p:cNvPr>
          <p:cNvSpPr/>
          <p:nvPr/>
        </p:nvSpPr>
        <p:spPr>
          <a:xfrm>
            <a:off x="1073997" y="1668447"/>
            <a:ext cx="600551" cy="22860"/>
          </a:xfrm>
          <a:prstGeom prst="roundRect">
            <a:avLst>
              <a:gd name="adj" fmla="val 1313584"/>
            </a:avLst>
          </a:prstGeom>
          <a:solidFill>
            <a:srgbClr val="2D4D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9CAC13F-3AE9-F1C0-E979-F97D900FC9DE}"/>
              </a:ext>
            </a:extLst>
          </p:cNvPr>
          <p:cNvSpPr/>
          <p:nvPr/>
        </p:nvSpPr>
        <p:spPr>
          <a:xfrm>
            <a:off x="646444" y="1454730"/>
            <a:ext cx="450413" cy="450413"/>
          </a:xfrm>
          <a:prstGeom prst="roundRect">
            <a:avLst>
              <a:gd name="adj" fmla="val 66669"/>
            </a:avLst>
          </a:prstGeom>
          <a:solidFill>
            <a:srgbClr val="F3F3FF"/>
          </a:solidFill>
          <a:ln w="22860">
            <a:solidFill>
              <a:srgbClr val="2D4D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00567B90-CF93-3C5A-E97B-E02649334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323" y="1503248"/>
            <a:ext cx="282535" cy="353258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D8C74227-DF56-8865-A50C-7A47E5149454}"/>
              </a:ext>
            </a:extLst>
          </p:cNvPr>
          <p:cNvSpPr/>
          <p:nvPr/>
        </p:nvSpPr>
        <p:spPr>
          <a:xfrm>
            <a:off x="1872609" y="1523429"/>
            <a:ext cx="2355175" cy="294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1주차</a:t>
            </a:r>
            <a:endParaRPr lang="en-US" sz="185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BB012118-76CE-528E-1F95-839A4B205C1F}"/>
              </a:ext>
            </a:extLst>
          </p:cNvPr>
          <p:cNvSpPr/>
          <p:nvPr/>
        </p:nvSpPr>
        <p:spPr>
          <a:xfrm>
            <a:off x="1872609" y="1937766"/>
            <a:ext cx="6316504" cy="320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주제 선정을 위한 의견 공유</a:t>
            </a:r>
            <a:endParaRPr lang="en-US" sz="155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E1B9195F-D455-B096-5C7C-574E3E61B3B7}"/>
              </a:ext>
            </a:extLst>
          </p:cNvPr>
          <p:cNvSpPr/>
          <p:nvPr/>
        </p:nvSpPr>
        <p:spPr>
          <a:xfrm>
            <a:off x="1073997" y="2871931"/>
            <a:ext cx="600551" cy="22860"/>
          </a:xfrm>
          <a:prstGeom prst="roundRect">
            <a:avLst>
              <a:gd name="adj" fmla="val 1313584"/>
            </a:avLst>
          </a:prstGeom>
          <a:solidFill>
            <a:srgbClr val="018C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307B2BF-3DC4-BCBD-C945-ADBDB197AA24}"/>
              </a:ext>
            </a:extLst>
          </p:cNvPr>
          <p:cNvSpPr/>
          <p:nvPr/>
        </p:nvSpPr>
        <p:spPr>
          <a:xfrm>
            <a:off x="646444" y="2658213"/>
            <a:ext cx="450413" cy="450413"/>
          </a:xfrm>
          <a:prstGeom prst="roundRect">
            <a:avLst>
              <a:gd name="adj" fmla="val 66669"/>
            </a:avLst>
          </a:prstGeom>
          <a:solidFill>
            <a:srgbClr val="F3F3FF"/>
          </a:solidFill>
          <a:ln w="22860">
            <a:solidFill>
              <a:srgbClr val="018C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32243B51-602A-FBFD-9B7D-4EE054050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23" y="2706731"/>
            <a:ext cx="282535" cy="353258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551EEC1E-D9E2-5C65-2285-C674B779405D}"/>
              </a:ext>
            </a:extLst>
          </p:cNvPr>
          <p:cNvSpPr/>
          <p:nvPr/>
        </p:nvSpPr>
        <p:spPr>
          <a:xfrm>
            <a:off x="1872609" y="2726912"/>
            <a:ext cx="2355175" cy="294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2주차</a:t>
            </a:r>
            <a:endParaRPr lang="en-US" sz="185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08839C5B-B6AF-5407-6257-4D02C8B1B164}"/>
              </a:ext>
            </a:extLst>
          </p:cNvPr>
          <p:cNvSpPr/>
          <p:nvPr/>
        </p:nvSpPr>
        <p:spPr>
          <a:xfrm>
            <a:off x="1872609" y="3141250"/>
            <a:ext cx="6316504" cy="320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메인기능 선정, 유사 사례 조사 및 사용자 분석</a:t>
            </a:r>
            <a:endParaRPr lang="en-US" sz="155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8CF18E2D-D642-6271-C3E6-E68DAA44001F}"/>
              </a:ext>
            </a:extLst>
          </p:cNvPr>
          <p:cNvSpPr/>
          <p:nvPr/>
        </p:nvSpPr>
        <p:spPr>
          <a:xfrm>
            <a:off x="1073997" y="4075414"/>
            <a:ext cx="600551" cy="22860"/>
          </a:xfrm>
          <a:prstGeom prst="roundRect">
            <a:avLst>
              <a:gd name="adj" fmla="val 1313584"/>
            </a:avLst>
          </a:prstGeom>
          <a:solidFill>
            <a:srgbClr val="DA33B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91616BC5-19C2-A38B-D05C-3C172D2C0FBA}"/>
              </a:ext>
            </a:extLst>
          </p:cNvPr>
          <p:cNvSpPr/>
          <p:nvPr/>
        </p:nvSpPr>
        <p:spPr>
          <a:xfrm>
            <a:off x="646444" y="3861697"/>
            <a:ext cx="450413" cy="450413"/>
          </a:xfrm>
          <a:prstGeom prst="roundRect">
            <a:avLst>
              <a:gd name="adj" fmla="val 66669"/>
            </a:avLst>
          </a:prstGeom>
          <a:solidFill>
            <a:srgbClr val="F3F3FF"/>
          </a:solidFill>
          <a:ln w="22860">
            <a:solidFill>
              <a:srgbClr val="DA33B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>
            <a:extLst>
              <a:ext uri="{FF2B5EF4-FFF2-40B4-BE49-F238E27FC236}">
                <a16:creationId xmlns:a16="http://schemas.microsoft.com/office/drawing/2014/main" id="{94EA3968-8D8A-19D3-9C79-D9D65F48B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23" y="3910215"/>
            <a:ext cx="282535" cy="353258"/>
          </a:xfrm>
          <a:prstGeom prst="rect">
            <a:avLst/>
          </a:prstGeom>
        </p:spPr>
      </p:pic>
      <p:sp>
        <p:nvSpPr>
          <p:cNvPr id="19" name="Text 12">
            <a:extLst>
              <a:ext uri="{FF2B5EF4-FFF2-40B4-BE49-F238E27FC236}">
                <a16:creationId xmlns:a16="http://schemas.microsoft.com/office/drawing/2014/main" id="{A21614EB-7446-3029-993E-94FC36929D63}"/>
              </a:ext>
            </a:extLst>
          </p:cNvPr>
          <p:cNvSpPr/>
          <p:nvPr/>
        </p:nvSpPr>
        <p:spPr>
          <a:xfrm>
            <a:off x="1872609" y="3930396"/>
            <a:ext cx="2355175" cy="294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3주차~8주차</a:t>
            </a:r>
            <a:endParaRPr lang="en-US" sz="185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2F10220A-D717-2C0E-C55F-859C01ED2940}"/>
              </a:ext>
            </a:extLst>
          </p:cNvPr>
          <p:cNvSpPr/>
          <p:nvPr/>
        </p:nvSpPr>
        <p:spPr>
          <a:xfrm>
            <a:off x="1872609" y="4344734"/>
            <a:ext cx="6316504" cy="6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개발환경 설정 및 역할 분담의 세분화 후 </a:t>
            </a:r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각 역할 별 스터디를 진행하며 프로젝트 설계 진행</a:t>
            </a:r>
            <a:endParaRPr lang="en-US" sz="155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B8CD4DA7-C2E8-C366-924B-85EFAE4A64AB}"/>
              </a:ext>
            </a:extLst>
          </p:cNvPr>
          <p:cNvSpPr/>
          <p:nvPr/>
        </p:nvSpPr>
        <p:spPr>
          <a:xfrm>
            <a:off x="1073997" y="5599057"/>
            <a:ext cx="600551" cy="22860"/>
          </a:xfrm>
          <a:prstGeom prst="roundRect">
            <a:avLst>
              <a:gd name="adj" fmla="val 1313584"/>
            </a:avLst>
          </a:prstGeom>
          <a:solidFill>
            <a:srgbClr val="2D4D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1DEF9C4C-6EAA-86E9-37B4-F5EE882610D3}"/>
              </a:ext>
            </a:extLst>
          </p:cNvPr>
          <p:cNvSpPr/>
          <p:nvPr/>
        </p:nvSpPr>
        <p:spPr>
          <a:xfrm>
            <a:off x="646444" y="5385340"/>
            <a:ext cx="450413" cy="450413"/>
          </a:xfrm>
          <a:prstGeom prst="roundRect">
            <a:avLst>
              <a:gd name="adj" fmla="val 66669"/>
            </a:avLst>
          </a:prstGeom>
          <a:solidFill>
            <a:srgbClr val="F3F3FF"/>
          </a:solidFill>
          <a:ln w="22860">
            <a:solidFill>
              <a:srgbClr val="2D4D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>
            <a:extLst>
              <a:ext uri="{FF2B5EF4-FFF2-40B4-BE49-F238E27FC236}">
                <a16:creationId xmlns:a16="http://schemas.microsoft.com/office/drawing/2014/main" id="{B0321285-0B88-0161-46F2-78AD2693B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323" y="5433858"/>
            <a:ext cx="282535" cy="353258"/>
          </a:xfrm>
          <a:prstGeom prst="rect">
            <a:avLst/>
          </a:prstGeom>
        </p:spPr>
      </p:pic>
      <p:sp>
        <p:nvSpPr>
          <p:cNvPr id="24" name="Text 16">
            <a:extLst>
              <a:ext uri="{FF2B5EF4-FFF2-40B4-BE49-F238E27FC236}">
                <a16:creationId xmlns:a16="http://schemas.microsoft.com/office/drawing/2014/main" id="{E87FDA3E-9A5B-62CA-3967-E088D75FAE71}"/>
              </a:ext>
            </a:extLst>
          </p:cNvPr>
          <p:cNvSpPr/>
          <p:nvPr/>
        </p:nvSpPr>
        <p:spPr>
          <a:xfrm>
            <a:off x="1872609" y="5454039"/>
            <a:ext cx="2355175" cy="294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9주차~15주차</a:t>
            </a:r>
            <a:endParaRPr lang="en-US" sz="1850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1225F0FA-BB98-1AF7-7077-1C544CCD7614}"/>
              </a:ext>
            </a:extLst>
          </p:cNvPr>
          <p:cNvSpPr/>
          <p:nvPr/>
        </p:nvSpPr>
        <p:spPr>
          <a:xfrm>
            <a:off x="1872609" y="5868377"/>
            <a:ext cx="6316504" cy="320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프로젝트 구현(계획한 메인 및 세부 기능들과 그에 필요한 로직 등)</a:t>
            </a:r>
            <a:endParaRPr lang="en-US" sz="155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94857795-3687-2021-3EAB-6476E379518C}"/>
              </a:ext>
            </a:extLst>
          </p:cNvPr>
          <p:cNvSpPr/>
          <p:nvPr/>
        </p:nvSpPr>
        <p:spPr>
          <a:xfrm>
            <a:off x="7402463" y="2079787"/>
            <a:ext cx="4143094" cy="275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프로젝트는 총 15주에 걸쳐 진행되었으며, 초기 2주 동안은 주제 선정과 사용자 분석에 집중했습니다. 이후 6주 동안은 개발환경 설정과 프로젝트 설계를 진행했으며, 마지막 7주 동안은 실제 구현 작업을 수행했습니다. 각 단계마다 팀원들의 역할을 명확히 분담하고 정기적인 미팅을 통해 진행 상황을 공유하며 효율적으로 프로젝트를 진행했습니다.</a:t>
            </a:r>
            <a:endParaRPr lang="en-US" sz="1550" dirty="0"/>
          </a:p>
        </p:txBody>
      </p:sp>
    </p:spTree>
    <p:extLst>
      <p:ext uri="{BB962C8B-B14F-4D97-AF65-F5344CB8AC3E}">
        <p14:creationId xmlns:p14="http://schemas.microsoft.com/office/powerpoint/2010/main" val="268553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98AD1-6C82-A73D-78F9-B9E7D66E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36E8DCC1-532B-A9A9-67DF-53967F3A61C5}"/>
              </a:ext>
            </a:extLst>
          </p:cNvPr>
          <p:cNvGrpSpPr/>
          <p:nvPr/>
        </p:nvGrpSpPr>
        <p:grpSpPr>
          <a:xfrm>
            <a:off x="4724400" y="2491740"/>
            <a:ext cx="2743200" cy="1874520"/>
            <a:chOff x="1664208" y="338328"/>
            <a:chExt cx="2743200" cy="187452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53F6172-4046-7D45-FA33-B00FA06C66E0}"/>
                </a:ext>
              </a:extLst>
            </p:cNvPr>
            <p:cNvSpPr/>
            <p:nvPr/>
          </p:nvSpPr>
          <p:spPr>
            <a:xfrm>
              <a:off x="1664208" y="338328"/>
              <a:ext cx="2743200" cy="187452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 0">
              <a:extLst>
                <a:ext uri="{FF2B5EF4-FFF2-40B4-BE49-F238E27FC236}">
                  <a16:creationId xmlns:a16="http://schemas.microsoft.com/office/drawing/2014/main" id="{1A058B88-FCE2-07B1-6436-BF5653999795}"/>
                </a:ext>
              </a:extLst>
            </p:cNvPr>
            <p:cNvSpPr/>
            <p:nvPr/>
          </p:nvSpPr>
          <p:spPr>
            <a:xfrm>
              <a:off x="2071687" y="665250"/>
              <a:ext cx="1969961" cy="62007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4850"/>
                </a:lnSpc>
                <a:buNone/>
              </a:pPr>
              <a:r>
                <a:rPr lang="ko-KR" altLang="en-US" sz="3900" b="1" dirty="0">
                  <a:solidFill>
                    <a:srgbClr val="000000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프로젝트</a:t>
              </a:r>
              <a:r>
                <a:rPr lang="en-US" sz="3900" b="1" dirty="0">
                  <a:solidFill>
                    <a:srgbClr val="000000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 </a:t>
              </a:r>
            </a:p>
            <a:p>
              <a:pPr marL="0" indent="0" algn="l">
                <a:lnSpc>
                  <a:spcPts val="4850"/>
                </a:lnSpc>
                <a:buNone/>
              </a:pPr>
              <a:r>
                <a:rPr lang="ko-KR" altLang="en-US" sz="3900" b="1" dirty="0">
                  <a:solidFill>
                    <a:srgbClr val="000000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선정이유</a:t>
              </a:r>
              <a:endParaRPr lang="en-US" sz="3900" dirty="0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C19022CD-2F2D-C52D-2926-D01BCBF13FBE}"/>
              </a:ext>
            </a:extLst>
          </p:cNvPr>
          <p:cNvGrpSpPr/>
          <p:nvPr/>
        </p:nvGrpSpPr>
        <p:grpSpPr>
          <a:xfrm>
            <a:off x="7626287" y="4022228"/>
            <a:ext cx="3637692" cy="1778675"/>
            <a:chOff x="2059424" y="2496288"/>
            <a:chExt cx="4024313" cy="1778675"/>
          </a:xfrm>
        </p:grpSpPr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F6AA4D2-6434-463A-EDD3-3155F79EF9F3}"/>
                </a:ext>
              </a:extLst>
            </p:cNvPr>
            <p:cNvSpPr/>
            <p:nvPr/>
          </p:nvSpPr>
          <p:spPr>
            <a:xfrm>
              <a:off x="2059424" y="2496288"/>
              <a:ext cx="2480905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950" b="1" dirty="0">
                  <a:solidFill>
                    <a:srgbClr val="000000"/>
                  </a:solidFill>
                  <a:latin typeface="+mj-lt"/>
                  <a:ea typeface="Inter Bold" pitchFamily="34" charset="-122"/>
                  <a:cs typeface="Inter Bold" pitchFamily="34" charset="-120"/>
                </a:rPr>
                <a:t>고령화 사회의 도래</a:t>
              </a:r>
              <a:endParaRPr lang="en-US" sz="1950" dirty="0">
                <a:latin typeface="+mj-lt"/>
              </a:endParaRPr>
            </a:p>
          </p:txBody>
        </p:sp>
        <p:sp>
          <p:nvSpPr>
            <p:cNvPr id="4" name="Text 2">
              <a:extLst>
                <a:ext uri="{FF2B5EF4-FFF2-40B4-BE49-F238E27FC236}">
                  <a16:creationId xmlns:a16="http://schemas.microsoft.com/office/drawing/2014/main" id="{2AC36392-E200-02F4-39C4-6A348D0D4219}"/>
                </a:ext>
              </a:extLst>
            </p:cNvPr>
            <p:cNvSpPr/>
            <p:nvPr/>
          </p:nvSpPr>
          <p:spPr>
            <a:xfrm>
              <a:off x="2059424" y="3004804"/>
              <a:ext cx="4024313" cy="12701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dirty="0">
                  <a:solidFill>
                    <a:srgbClr val="272525"/>
                  </a:solidFill>
                  <a:ea typeface="Inter" pitchFamily="34" charset="-122"/>
                  <a:cs typeface="Inter" pitchFamily="34" charset="-120"/>
                </a:rPr>
                <a:t>우리 사회는 빠른 고령화로 65세 이상 고령층의 비중이 지속적으로 증가하고 있습니다. 이에 따라 </a:t>
              </a:r>
              <a:r>
                <a:rPr lang="en-US" sz="2000" dirty="0">
                  <a:solidFill>
                    <a:srgbClr val="272525"/>
                  </a:solidFill>
                  <a:ea typeface="Inter" pitchFamily="34" charset="-122"/>
                  <a:cs typeface="Inter" pitchFamily="34" charset="-120"/>
                </a:rPr>
                <a:t>고령층의</a:t>
              </a:r>
              <a:r>
                <a:rPr lang="en-US" dirty="0">
                  <a:solidFill>
                    <a:srgbClr val="272525"/>
                  </a:solidFill>
                  <a:ea typeface="Inter" pitchFamily="34" charset="-122"/>
                  <a:cs typeface="Inter" pitchFamily="34" charset="-120"/>
                </a:rPr>
                <a:t> 건강 관리와 의료기관 정보에 대한 수요가 늘어나고 있습니다.</a:t>
              </a:r>
              <a:endParaRPr lang="en-US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F01E1A3D-D4D0-5A13-926C-0A410A8DE582}"/>
              </a:ext>
            </a:extLst>
          </p:cNvPr>
          <p:cNvGrpSpPr/>
          <p:nvPr/>
        </p:nvGrpSpPr>
        <p:grpSpPr>
          <a:xfrm>
            <a:off x="1309687" y="570917"/>
            <a:ext cx="3414713" cy="1461135"/>
            <a:chOff x="6863215" y="2547580"/>
            <a:chExt cx="4024313" cy="1461135"/>
          </a:xfrm>
        </p:grpSpPr>
        <p:sp>
          <p:nvSpPr>
            <p:cNvPr id="5" name="Text 5">
              <a:extLst>
                <a:ext uri="{FF2B5EF4-FFF2-40B4-BE49-F238E27FC236}">
                  <a16:creationId xmlns:a16="http://schemas.microsoft.com/office/drawing/2014/main" id="{2715F32E-C1BD-E4A0-57DB-30DEE52B92DE}"/>
                </a:ext>
              </a:extLst>
            </p:cNvPr>
            <p:cNvSpPr/>
            <p:nvPr/>
          </p:nvSpPr>
          <p:spPr>
            <a:xfrm>
              <a:off x="6863215" y="2547580"/>
              <a:ext cx="2516624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950" b="1" dirty="0">
                  <a:solidFill>
                    <a:srgbClr val="000000"/>
                  </a:solidFill>
                  <a:latin typeface="+mj-lt"/>
                  <a:ea typeface="Inter Bold" pitchFamily="34" charset="-122"/>
                  <a:cs typeface="Inter Bold" pitchFamily="34" charset="-120"/>
                </a:rPr>
                <a:t>신뢰할 수 있는 정보 부족</a:t>
              </a:r>
              <a:endParaRPr lang="en-US" sz="1950" dirty="0">
                <a:latin typeface="+mj-lt"/>
              </a:endParaRPr>
            </a:p>
          </p:txBody>
        </p:sp>
        <p:sp>
          <p:nvSpPr>
            <p:cNvPr id="23" name="Text 6">
              <a:extLst>
                <a:ext uri="{FF2B5EF4-FFF2-40B4-BE49-F238E27FC236}">
                  <a16:creationId xmlns:a16="http://schemas.microsoft.com/office/drawing/2014/main" id="{231D654D-1D44-D2E8-FAEC-EC72986E2594}"/>
                </a:ext>
              </a:extLst>
            </p:cNvPr>
            <p:cNvSpPr/>
            <p:nvPr/>
          </p:nvSpPr>
          <p:spPr>
            <a:xfrm>
              <a:off x="6863215" y="3056096"/>
              <a:ext cx="4024313" cy="9526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dirty="0">
                  <a:solidFill>
                    <a:srgbClr val="272525"/>
                  </a:solidFill>
                  <a:ea typeface="Inter" pitchFamily="34" charset="-122"/>
                  <a:cs typeface="Inter" pitchFamily="34" charset="-120"/>
                </a:rPr>
                <a:t>검증되지 않은 정보가 넘쳐나는 환경에서 고령층이 정확하고 신뢰할 수 있는 의료 정보를 찾는 데 한계가 존재합니다.</a:t>
              </a:r>
              <a:endParaRPr lang="en-US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42BEE18-32E5-61F5-21E9-5A12852744A1}"/>
              </a:ext>
            </a:extLst>
          </p:cNvPr>
          <p:cNvSpPr txBox="1"/>
          <p:nvPr/>
        </p:nvSpPr>
        <p:spPr>
          <a:xfrm>
            <a:off x="7626287" y="460415"/>
            <a:ext cx="377418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디지털 정보 격차</a:t>
            </a:r>
            <a:endParaRPr lang="en-US" altLang="ko-KR" b="1" dirty="0"/>
          </a:p>
          <a:p>
            <a:pPr>
              <a:buNone/>
            </a:pPr>
            <a:endParaRPr lang="ko-KR" altLang="en-US" b="1" dirty="0"/>
          </a:p>
          <a:p>
            <a:r>
              <a:rPr lang="ko-KR" altLang="en-US" dirty="0"/>
              <a:t>빠르게 변화하는 정보화 사회에서 고령층은 디지털 기술 접근과 활용이 어려워 필요한 의료 정보를 제때 얻기 어려운 상황에 놓여 있습니다</a:t>
            </a:r>
            <a:r>
              <a:rPr lang="en-US" altLang="ko-KR" dirty="0"/>
              <a:t>.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3D91CB0-F2D1-02CA-FB9D-D172F8DF3759}"/>
              </a:ext>
            </a:extLst>
          </p:cNvPr>
          <p:cNvGrpSpPr/>
          <p:nvPr/>
        </p:nvGrpSpPr>
        <p:grpSpPr>
          <a:xfrm>
            <a:off x="1309686" y="4022228"/>
            <a:ext cx="3414713" cy="1461135"/>
            <a:chOff x="6863215" y="2547580"/>
            <a:chExt cx="4024313" cy="1461135"/>
          </a:xfrm>
        </p:grpSpPr>
        <p:sp>
          <p:nvSpPr>
            <p:cNvPr id="15" name="Text 5">
              <a:extLst>
                <a:ext uri="{FF2B5EF4-FFF2-40B4-BE49-F238E27FC236}">
                  <a16:creationId xmlns:a16="http://schemas.microsoft.com/office/drawing/2014/main" id="{F84FD339-B167-1E64-B419-433E3EB94B6D}"/>
                </a:ext>
              </a:extLst>
            </p:cNvPr>
            <p:cNvSpPr/>
            <p:nvPr/>
          </p:nvSpPr>
          <p:spPr>
            <a:xfrm>
              <a:off x="6863215" y="2547580"/>
              <a:ext cx="2516624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400"/>
                </a:lnSpc>
              </a:pPr>
              <a:r>
                <a:rPr lang="ko-KR" altLang="en-US" sz="1950" b="1" dirty="0"/>
                <a:t>맞춤형 정보 제공의 필요성</a:t>
              </a:r>
              <a:endParaRPr lang="en-US" sz="1950" b="1" dirty="0">
                <a:latin typeface="+mj-lt"/>
              </a:endParaRPr>
            </a:p>
          </p:txBody>
        </p:sp>
        <p:sp>
          <p:nvSpPr>
            <p:cNvPr id="16" name="Text 6">
              <a:extLst>
                <a:ext uri="{FF2B5EF4-FFF2-40B4-BE49-F238E27FC236}">
                  <a16:creationId xmlns:a16="http://schemas.microsoft.com/office/drawing/2014/main" id="{21248222-CD95-EF88-77E7-4BCF87501C3F}"/>
                </a:ext>
              </a:extLst>
            </p:cNvPr>
            <p:cNvSpPr/>
            <p:nvPr/>
          </p:nvSpPr>
          <p:spPr>
            <a:xfrm>
              <a:off x="6863215" y="3056096"/>
              <a:ext cx="4024313" cy="9526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2500"/>
                </a:lnSpc>
              </a:pPr>
              <a:r>
                <a:rPr lang="ko-KR" altLang="en-US" dirty="0"/>
                <a:t>고령층은 증상과 건강 상태가 다양해 일률적인 정보만으로는 적절한 의료기관 선택이 어렵습니다</a:t>
              </a:r>
              <a:r>
                <a:rPr lang="en-US" altLang="ko-KR" dirty="0"/>
                <a:t>. </a:t>
              </a:r>
              <a:r>
                <a:rPr lang="ko-KR" altLang="en-US" dirty="0"/>
                <a:t>본 프로젝트는 증상별 케이스를 분류해 진료과를 추천함으로써 맞춤형 정보를 제공합니다</a:t>
              </a:r>
              <a:r>
                <a:rPr lang="en-US" altLang="ko-K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38183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2CD0E821-0B77-DEE4-268C-FAB6A2E0E432}"/>
              </a:ext>
            </a:extLst>
          </p:cNvPr>
          <p:cNvSpPr/>
          <p:nvPr/>
        </p:nvSpPr>
        <p:spPr>
          <a:xfrm>
            <a:off x="722590" y="563761"/>
            <a:ext cx="594338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서비스의 핵심 차별화 요소</a:t>
            </a:r>
            <a:endParaRPr lang="en-US" sz="39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A919C00F-11BD-4166-BFEE-55EF265EF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90" y="1481495"/>
            <a:ext cx="496133" cy="496133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0D91412-EFD4-4CBA-1F7B-4D604A911192}"/>
              </a:ext>
            </a:extLst>
          </p:cNvPr>
          <p:cNvSpPr/>
          <p:nvPr/>
        </p:nvSpPr>
        <p:spPr>
          <a:xfrm>
            <a:off x="1466730" y="159924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직관적인 사용자 UI/UX</a:t>
            </a:r>
            <a:endParaRPr lang="en-US" sz="19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CD6A9A8E-CF3D-A1BC-B9BC-A705D20F9C0F}"/>
              </a:ext>
            </a:extLst>
          </p:cNvPr>
          <p:cNvSpPr/>
          <p:nvPr/>
        </p:nvSpPr>
        <p:spPr>
          <a:xfrm>
            <a:off x="1466730" y="2028468"/>
            <a:ext cx="681228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절차 없이 진료과목, 위치 기반 병원 검색이 가능하도록 단순화된 구조를 제공합니다. 고령층이 쉽게 이용할 수 있는 큰 글씨와 명확한 버튼으로 설계했습니다.</a:t>
            </a:r>
            <a:endParaRPr lang="en-US" sz="1550" dirty="0"/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2342B59E-9B6F-F94F-84CF-020FA9B7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90" y="3159681"/>
            <a:ext cx="496133" cy="496133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E8BDCC92-CAAF-4E3C-756F-582886DDA371}"/>
              </a:ext>
            </a:extLst>
          </p:cNvPr>
          <p:cNvSpPr/>
          <p:nvPr/>
        </p:nvSpPr>
        <p:spPr>
          <a:xfrm>
            <a:off x="1466730" y="327743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병원 음성 안내 기능</a:t>
            </a:r>
            <a:endParaRPr lang="en-US" sz="195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7DFCBB89-7529-B15E-5813-105DB7691795}"/>
              </a:ext>
            </a:extLst>
          </p:cNvPr>
          <p:cNvSpPr/>
          <p:nvPr/>
        </p:nvSpPr>
        <p:spPr>
          <a:xfrm>
            <a:off x="1466730" y="3706654"/>
            <a:ext cx="681228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시력이 약하거나 텍스트 정보 습득이 어려운 사용자를 위해 병원 정보를 음성으로 제공합니다. 주요 정보를 명확하게 들을 수 있어 접근성이 향상됩니다.</a:t>
            </a:r>
            <a:endParaRPr lang="en-US" sz="1550" dirty="0"/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B7463DE2-07D3-9333-D3A3-7F1898EA88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90" y="4837867"/>
            <a:ext cx="496133" cy="496133"/>
          </a:xfrm>
          <a:prstGeom prst="rect">
            <a:avLst/>
          </a:prstGeom>
        </p:spPr>
      </p:pic>
      <p:sp>
        <p:nvSpPr>
          <p:cNvPr id="12" name="Text 5">
            <a:extLst>
              <a:ext uri="{FF2B5EF4-FFF2-40B4-BE49-F238E27FC236}">
                <a16:creationId xmlns:a16="http://schemas.microsoft.com/office/drawing/2014/main" id="{162ADD8C-7E51-E329-A9DC-AE2A61D1E233}"/>
              </a:ext>
            </a:extLst>
          </p:cNvPr>
          <p:cNvSpPr/>
          <p:nvPr/>
        </p:nvSpPr>
        <p:spPr>
          <a:xfrm>
            <a:off x="1466730" y="495561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위치 기반 자동 추천</a:t>
            </a:r>
            <a:endParaRPr lang="en-US" sz="195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9C3C488-D191-9B56-F242-D8764022F26B}"/>
              </a:ext>
            </a:extLst>
          </p:cNvPr>
          <p:cNvSpPr/>
          <p:nvPr/>
        </p:nvSpPr>
        <p:spPr>
          <a:xfrm>
            <a:off x="1466730" y="5384840"/>
            <a:ext cx="681228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사용자의 현재 위치를 기반으로 가까운 병원을 자동으로 추천해 줍니다. 진료과목 필터를 통해 필요한 정보만 선별적으로 제공하여 정보 과부하를 방지합니다.</a:t>
            </a:r>
            <a:endParaRPr lang="en-US" sz="1550" dirty="0"/>
          </a:p>
        </p:txBody>
      </p:sp>
      <p:pic>
        <p:nvPicPr>
          <p:cNvPr id="15" name="그림 14" descr="스크린샷, 스마트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C74A03-2257-CEED-A225-27BD5260A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014" y="0"/>
            <a:ext cx="31142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606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95E8B-DA31-745F-102A-608C32950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952" y="2766218"/>
            <a:ext cx="3816096" cy="1325563"/>
          </a:xfrm>
        </p:spPr>
        <p:txBody>
          <a:bodyPr/>
          <a:lstStyle/>
          <a:p>
            <a:r>
              <a:rPr lang="ko-KR" altLang="en-US" b="1" dirty="0"/>
              <a:t>프로젝트 설계</a:t>
            </a:r>
          </a:p>
        </p:txBody>
      </p:sp>
    </p:spTree>
    <p:extLst>
      <p:ext uri="{BB962C8B-B14F-4D97-AF65-F5344CB8AC3E}">
        <p14:creationId xmlns:p14="http://schemas.microsoft.com/office/powerpoint/2010/main" val="1172091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C3B03B8-0623-882E-2056-A67066764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ko-KR" alt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프로젝트 아키텍쳐</a:t>
            </a:r>
            <a:r>
              <a:rPr lang="en-US" altLang="ko-KR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ko-KR" alt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설계</a:t>
            </a:r>
          </a:p>
        </p:txBody>
      </p:sp>
      <p:pic>
        <p:nvPicPr>
          <p:cNvPr id="5" name="그림 4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DB7DF0-7C71-D162-7CDF-5EC3AA17B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8649" y="1845426"/>
            <a:ext cx="7911649" cy="445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542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지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AC465C-5D40-86AD-A77F-5E690AE6B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232957"/>
            <a:ext cx="5291666" cy="4392085"/>
          </a:xfrm>
          <a:prstGeom prst="rect">
            <a:avLst/>
          </a:prstGeom>
        </p:spPr>
      </p:pic>
      <p:pic>
        <p:nvPicPr>
          <p:cNvPr id="11" name="그림 10" descr="텍스트, 도표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205B5C-3228-71DA-8E13-7CB911688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232957"/>
            <a:ext cx="5291667" cy="4392086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8243DBE9-28F9-DC21-5AC0-9BF7A8A74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226" y="87389"/>
            <a:ext cx="3301814" cy="1325563"/>
          </a:xfrm>
        </p:spPr>
        <p:txBody>
          <a:bodyPr/>
          <a:lstStyle/>
          <a:p>
            <a:pPr algn="ctr"/>
            <a:r>
              <a:rPr lang="ko-KR" altLang="en-US" dirty="0"/>
              <a:t>스토리 보드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6FD55E1-EB68-26EF-CF12-94F0BF1AEEED}"/>
              </a:ext>
            </a:extLst>
          </p:cNvPr>
          <p:cNvCxnSpPr/>
          <p:nvPr/>
        </p:nvCxnSpPr>
        <p:spPr>
          <a:xfrm>
            <a:off x="5852160" y="4919472"/>
            <a:ext cx="4047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283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7A5B7-B8E5-E823-EDCF-8108DCB46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282829"/>
            <a:ext cx="2691384" cy="1325563"/>
          </a:xfrm>
        </p:spPr>
        <p:txBody>
          <a:bodyPr/>
          <a:lstStyle/>
          <a:p>
            <a:r>
              <a:rPr lang="ko-KR" altLang="en-US" dirty="0"/>
              <a:t>화면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9DAF1F-4D58-3FD0-878D-3C5B2BF41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928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6E240-30C1-AB7C-BCAF-3E779D189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312" y="310261"/>
            <a:ext cx="4913376" cy="1325563"/>
          </a:xfrm>
        </p:spPr>
        <p:txBody>
          <a:bodyPr/>
          <a:lstStyle/>
          <a:p>
            <a:r>
              <a:rPr lang="ko-KR" altLang="en-US" dirty="0"/>
              <a:t>데이터베이스 설계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A50ADD5-9A3C-5688-8C9C-AB57752FC399}"/>
              </a:ext>
            </a:extLst>
          </p:cNvPr>
          <p:cNvSpPr/>
          <p:nvPr/>
        </p:nvSpPr>
        <p:spPr>
          <a:xfrm>
            <a:off x="1290982" y="232924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hospital_main</a:t>
            </a:r>
            <a:endParaRPr lang="en-US" sz="195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80C5818-944A-93E7-4EA4-175C4F9E9AAD}"/>
              </a:ext>
            </a:extLst>
          </p:cNvPr>
          <p:cNvSpPr/>
          <p:nvPr/>
        </p:nvSpPr>
        <p:spPr>
          <a:xfrm>
            <a:off x="-169319" y="2758465"/>
            <a:ext cx="394120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병원 기본 정보(코드, 이름, 주소, 좌표 등)</a:t>
            </a:r>
            <a:endParaRPr lang="en-US" sz="155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FBEBE7C3-730B-A06B-6718-3B6B8F9E4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544" y="1635824"/>
            <a:ext cx="4564975" cy="4564975"/>
          </a:xfrm>
          <a:prstGeom prst="rect">
            <a:avLst/>
          </a:prstGeom>
        </p:spPr>
      </p:pic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7D0F3C92-E133-2FEB-EAD6-192877CF4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517" y="2585288"/>
            <a:ext cx="296942" cy="371118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D6F89ADB-590B-8B0C-69F2-BFEA15EA0DD8}"/>
              </a:ext>
            </a:extLst>
          </p:cNvPr>
          <p:cNvSpPr/>
          <p:nvPr/>
        </p:nvSpPr>
        <p:spPr>
          <a:xfrm>
            <a:off x="8932175" y="192395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hospital_detail</a:t>
            </a:r>
            <a:endParaRPr lang="en-US" sz="195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43ABC6C6-0FBC-8931-FBF7-C43EFB325CB2}"/>
              </a:ext>
            </a:extLst>
          </p:cNvPr>
          <p:cNvSpPr/>
          <p:nvPr/>
        </p:nvSpPr>
        <p:spPr>
          <a:xfrm>
            <a:off x="8932175" y="2353176"/>
            <a:ext cx="394132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운영시간, 주차, 응급진료 정보</a:t>
            </a:r>
            <a:endParaRPr lang="en-US" sz="1550" dirty="0"/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F1E91114-4D60-0261-2BE0-375C5ED3F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544" y="1635824"/>
            <a:ext cx="4564975" cy="4564975"/>
          </a:xfrm>
          <a:prstGeom prst="rect">
            <a:avLst/>
          </a:prstGeom>
        </p:spPr>
      </p:pic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7D215191-F7C0-EAC6-0233-67889ACE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1035" y="2320612"/>
            <a:ext cx="296942" cy="371118"/>
          </a:xfrm>
          <a:prstGeom prst="rect">
            <a:avLst/>
          </a:prstGeom>
        </p:spPr>
      </p:pic>
      <p:sp>
        <p:nvSpPr>
          <p:cNvPr id="12" name="Text 5">
            <a:extLst>
              <a:ext uri="{FF2B5EF4-FFF2-40B4-BE49-F238E27FC236}">
                <a16:creationId xmlns:a16="http://schemas.microsoft.com/office/drawing/2014/main" id="{33548808-2E19-0DAB-0AD5-E417E2EBB104}"/>
              </a:ext>
            </a:extLst>
          </p:cNvPr>
          <p:cNvSpPr/>
          <p:nvPr/>
        </p:nvSpPr>
        <p:spPr>
          <a:xfrm>
            <a:off x="9031354" y="354487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medical_subject</a:t>
            </a:r>
            <a:endParaRPr lang="en-US" sz="195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5897EE9-3425-DFF7-0BEF-4F8081AE3204}"/>
              </a:ext>
            </a:extLst>
          </p:cNvPr>
          <p:cNvSpPr/>
          <p:nvPr/>
        </p:nvSpPr>
        <p:spPr>
          <a:xfrm>
            <a:off x="9031354" y="3974093"/>
            <a:ext cx="384214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병원별 진료과목 정보</a:t>
            </a:r>
            <a:endParaRPr lang="en-US" sz="1550" dirty="0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F2363299-73D0-4155-B431-E55C7D3753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544" y="1635824"/>
            <a:ext cx="4564975" cy="4564975"/>
          </a:xfrm>
          <a:prstGeom prst="rect">
            <a:avLst/>
          </a:prstGeom>
        </p:spPr>
      </p:pic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48E2B8B4-5235-6BD6-10D5-0184317ACB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7448" y="4007371"/>
            <a:ext cx="296942" cy="371118"/>
          </a:xfrm>
          <a:prstGeom prst="rect">
            <a:avLst/>
          </a:prstGeom>
        </p:spPr>
      </p:pic>
      <p:sp>
        <p:nvSpPr>
          <p:cNvPr id="16" name="Text 7">
            <a:extLst>
              <a:ext uri="{FF2B5EF4-FFF2-40B4-BE49-F238E27FC236}">
                <a16:creationId xmlns:a16="http://schemas.microsoft.com/office/drawing/2014/main" id="{E6617622-CFE4-DF46-C830-871E020464E3}"/>
              </a:ext>
            </a:extLst>
          </p:cNvPr>
          <p:cNvSpPr/>
          <p:nvPr/>
        </p:nvSpPr>
        <p:spPr>
          <a:xfrm>
            <a:off x="8932175" y="516578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pro_doc</a:t>
            </a:r>
            <a:endParaRPr lang="en-US" sz="195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77472B6F-3B3E-182B-1B03-ECAF434048AD}"/>
              </a:ext>
            </a:extLst>
          </p:cNvPr>
          <p:cNvSpPr/>
          <p:nvPr/>
        </p:nvSpPr>
        <p:spPr>
          <a:xfrm>
            <a:off x="8932175" y="5595010"/>
            <a:ext cx="394132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진료과목별 전문의 수 정보</a:t>
            </a:r>
            <a:endParaRPr lang="en-US" sz="1550" dirty="0"/>
          </a:p>
        </p:txBody>
      </p:sp>
      <p:pic>
        <p:nvPicPr>
          <p:cNvPr id="18" name="Image 6" descr="preencoded.png">
            <a:extLst>
              <a:ext uri="{FF2B5EF4-FFF2-40B4-BE49-F238E27FC236}">
                <a16:creationId xmlns:a16="http://schemas.microsoft.com/office/drawing/2014/main" id="{881C5815-595E-482A-2A2A-5944C1C199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9544" y="1635824"/>
            <a:ext cx="4564975" cy="4564975"/>
          </a:xfrm>
          <a:prstGeom prst="rect">
            <a:avLst/>
          </a:prstGeom>
        </p:spPr>
      </p:pic>
      <p:pic>
        <p:nvPicPr>
          <p:cNvPr id="19" name="Image 7" descr="preencoded.png">
            <a:extLst>
              <a:ext uri="{FF2B5EF4-FFF2-40B4-BE49-F238E27FC236}">
                <a16:creationId xmlns:a16="http://schemas.microsoft.com/office/drawing/2014/main" id="{93E97F00-545F-CD5F-6116-1C5F423D17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589" y="5314439"/>
            <a:ext cx="296942" cy="371118"/>
          </a:xfrm>
          <a:prstGeom prst="rect">
            <a:avLst/>
          </a:prstGeom>
        </p:spPr>
      </p:pic>
      <p:sp>
        <p:nvSpPr>
          <p:cNvPr id="20" name="Text 9">
            <a:extLst>
              <a:ext uri="{FF2B5EF4-FFF2-40B4-BE49-F238E27FC236}">
                <a16:creationId xmlns:a16="http://schemas.microsoft.com/office/drawing/2014/main" id="{BC5ED919-B2FD-A13C-7980-A9DC3FFE97CF}"/>
              </a:ext>
            </a:extLst>
          </p:cNvPr>
          <p:cNvSpPr/>
          <p:nvPr/>
        </p:nvSpPr>
        <p:spPr>
          <a:xfrm>
            <a:off x="1290982" y="476050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pharmacy</a:t>
            </a:r>
            <a:endParaRPr lang="en-US" sz="195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45EB7AAC-FF60-D818-7A68-98401113F968}"/>
              </a:ext>
            </a:extLst>
          </p:cNvPr>
          <p:cNvSpPr/>
          <p:nvPr/>
        </p:nvSpPr>
        <p:spPr>
          <a:xfrm>
            <a:off x="-169319" y="5189721"/>
            <a:ext cx="394120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지역 내 약국 정보</a:t>
            </a:r>
            <a:endParaRPr lang="en-US" sz="1550" dirty="0"/>
          </a:p>
        </p:txBody>
      </p:sp>
      <p:pic>
        <p:nvPicPr>
          <p:cNvPr id="22" name="Image 8" descr="preencoded.png">
            <a:extLst>
              <a:ext uri="{FF2B5EF4-FFF2-40B4-BE49-F238E27FC236}">
                <a16:creationId xmlns:a16="http://schemas.microsoft.com/office/drawing/2014/main" id="{7176657B-2CFD-2FE9-F814-70167A765E7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9544" y="1635824"/>
            <a:ext cx="4564975" cy="4564975"/>
          </a:xfrm>
          <a:prstGeom prst="rect">
            <a:avLst/>
          </a:prstGeom>
        </p:spPr>
      </p:pic>
      <p:pic>
        <p:nvPicPr>
          <p:cNvPr id="23" name="Image 9" descr="preencoded.png">
            <a:extLst>
              <a:ext uri="{FF2B5EF4-FFF2-40B4-BE49-F238E27FC236}">
                <a16:creationId xmlns:a16="http://schemas.microsoft.com/office/drawing/2014/main" id="{8B691B1B-1F36-3E4F-ACB1-37E86BAC94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8619" y="4435639"/>
            <a:ext cx="296942" cy="37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19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25C69F-8D7A-7833-BEBA-4BAEDB317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9935" y="643466"/>
            <a:ext cx="671212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50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번호, 폰트, 영수증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2AECB4-5F7E-5660-FD15-BA13000281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875" y="570413"/>
            <a:ext cx="4125809" cy="2057461"/>
          </a:xfrm>
          <a:prstGeom prst="rect">
            <a:avLst/>
          </a:prstGeom>
        </p:spPr>
      </p:pic>
      <p:pic>
        <p:nvPicPr>
          <p:cNvPr id="7" name="그림 6" descr="텍스트, 번호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A2A591-02E3-9E60-D7C8-20B0B50307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178" y="4320306"/>
            <a:ext cx="4323201" cy="1619216"/>
          </a:xfrm>
          <a:prstGeom prst="rect">
            <a:avLst/>
          </a:prstGeom>
        </p:spPr>
      </p:pic>
      <p:pic>
        <p:nvPicPr>
          <p:cNvPr id="9" name="그림 8" descr="텍스트, 폰트, 번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D16712-D84C-CF4B-0E98-A76AC8E30E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164" y="570413"/>
            <a:ext cx="4394049" cy="1312856"/>
          </a:xfrm>
          <a:prstGeom prst="rect">
            <a:avLst/>
          </a:prstGeom>
        </p:spPr>
      </p:pic>
      <p:pic>
        <p:nvPicPr>
          <p:cNvPr id="11" name="그림 10" descr="텍스트, 폰트, 번호, 영수증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A1692B-A9CF-B269-1644-933C30CC49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795" y="2703743"/>
            <a:ext cx="4241968" cy="1450513"/>
          </a:xfrm>
          <a:prstGeom prst="rect">
            <a:avLst/>
          </a:prstGeom>
        </p:spPr>
      </p:pic>
      <p:pic>
        <p:nvPicPr>
          <p:cNvPr id="13" name="그림 12" descr="텍스트, 번호, 문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47223F-F467-8FF1-43CB-D3E9E3030B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571" y="2063197"/>
            <a:ext cx="4380642" cy="4224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105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F074BB-1227-55C7-C1E0-61F222C65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368" y="2766218"/>
            <a:ext cx="4017264" cy="1325563"/>
          </a:xfrm>
        </p:spPr>
        <p:txBody>
          <a:bodyPr/>
          <a:lstStyle/>
          <a:p>
            <a:r>
              <a:rPr lang="ko-KR" altLang="en-US" b="1" dirty="0"/>
              <a:t>프로젝트 구현</a:t>
            </a:r>
          </a:p>
        </p:txBody>
      </p:sp>
    </p:spTree>
    <p:extLst>
      <p:ext uri="{BB962C8B-B14F-4D97-AF65-F5344CB8AC3E}">
        <p14:creationId xmlns:p14="http://schemas.microsoft.com/office/powerpoint/2010/main" val="353978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84FD8-2509-21CE-110F-273FB25A7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5908" y="355981"/>
            <a:ext cx="4520184" cy="1325563"/>
          </a:xfrm>
        </p:spPr>
        <p:txBody>
          <a:bodyPr/>
          <a:lstStyle/>
          <a:p>
            <a:r>
              <a:rPr lang="ko-KR" altLang="en-US" dirty="0"/>
              <a:t>개발환경 및 도구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F7DF82-7089-FF59-03E5-963B4B815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431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ABD19E-997F-D477-3530-4F5F58AA7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1668" y="273685"/>
            <a:ext cx="3788664" cy="1325563"/>
          </a:xfrm>
        </p:spPr>
        <p:txBody>
          <a:bodyPr/>
          <a:lstStyle/>
          <a:p>
            <a:r>
              <a:rPr lang="ko-KR" altLang="en-US" dirty="0"/>
              <a:t>구현기능 시연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736844-A991-7C3C-5AD0-73BFF60B5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6093" y="1598296"/>
            <a:ext cx="9139813" cy="7266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정보 취약 계층 맞춤형 병원정보 제공 웹 애플리케이션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hlinkClick r:id="rId2"/>
            <a:extLst>
              <a:ext uri="{FF2B5EF4-FFF2-40B4-BE49-F238E27FC236}">
                <a16:creationId xmlns:a16="http://schemas.microsoft.com/office/drawing/2014/main" id="{6C480296-FDE1-4581-3768-EE3CDD22F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4759" y="2324952"/>
            <a:ext cx="7622479" cy="404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609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8766D-43B1-55FA-826E-4D7AADE5C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3632" y="355981"/>
            <a:ext cx="4364736" cy="1325563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학기 진행 계획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D9F831-7184-FBA7-2FF3-CA8377780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5916" y="1880489"/>
            <a:ext cx="744016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ko-KR" sz="2000" dirty="0"/>
              <a:t>현재까지는 병원 검색 및 정보 제공이라는 메인 기능 구현에 집중하여 프로젝트를 진행해왔습니다</a:t>
            </a:r>
            <a:r>
              <a:rPr lang="en-US" altLang="ko-KR" sz="2000" dirty="0"/>
              <a:t>. </a:t>
            </a:r>
            <a:r>
              <a:rPr lang="ko-KR" altLang="ko-KR" sz="2000" dirty="0"/>
              <a:t>앞으로는 이러한 핵심 기능 외에도 로그인 및 마이페이지 기능을 추가하여 사용자 개인화 경험을 제공할 수 있도록 확장할 예정입니다</a:t>
            </a:r>
            <a:r>
              <a:rPr lang="en-US" altLang="ko-KR" sz="2000" dirty="0"/>
              <a:t>.</a:t>
            </a:r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br>
              <a:rPr lang="en-US" altLang="ko-KR" sz="2000" dirty="0"/>
            </a:br>
            <a:r>
              <a:rPr lang="ko-KR" altLang="ko-KR" sz="2000" dirty="0"/>
              <a:t>또한</a:t>
            </a:r>
            <a:r>
              <a:rPr lang="en-US" altLang="ko-KR" sz="2000" dirty="0"/>
              <a:t>, </a:t>
            </a:r>
            <a:r>
              <a:rPr lang="ko-KR" altLang="ko-KR" sz="2000" dirty="0"/>
              <a:t>현재 성남시로 한정된 서비스 지역을 타 지역으로 확대할 수 있도록 데이터 연동 범위를 넓히고자 합니다</a:t>
            </a:r>
            <a:r>
              <a:rPr lang="en-US" altLang="ko-KR" sz="2000" dirty="0"/>
              <a:t>.</a:t>
            </a:r>
            <a:br>
              <a:rPr lang="en-US" altLang="ko-KR" sz="2000" dirty="0"/>
            </a:br>
            <a:r>
              <a:rPr lang="ko-KR" altLang="ko-KR" sz="2000" dirty="0"/>
              <a:t>추가적으로</a:t>
            </a:r>
            <a:r>
              <a:rPr lang="en-US" altLang="ko-KR" sz="2000" dirty="0"/>
              <a:t>, </a:t>
            </a:r>
            <a:r>
              <a:rPr lang="ko-KR" altLang="ko-KR" sz="2000" dirty="0"/>
              <a:t>프로젝트의 활용도를 높이기 위해 향후에는 모바일 애플리케이션 형태로 개발하여 앱스토어 또는 구글 플레이스토어에 배포하는 방안도 함께 고려하고 있습니다</a:t>
            </a:r>
            <a:r>
              <a:rPr lang="en-US" altLang="ko-KR" sz="2000" b="1" dirty="0"/>
              <a:t>.</a:t>
            </a:r>
            <a:endParaRPr lang="ko-KR" altLang="ko-KR" sz="2000" dirty="0"/>
          </a:p>
          <a:p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51515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06A22-1325-BB5C-B1E3-2F385B86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548" y="2766218"/>
            <a:ext cx="3422904" cy="1325563"/>
          </a:xfrm>
        </p:spPr>
        <p:txBody>
          <a:bodyPr/>
          <a:lstStyle/>
          <a:p>
            <a:r>
              <a:rPr lang="ko-KR" altLang="en-US" b="1" dirty="0"/>
              <a:t>결과 및 고찰</a:t>
            </a:r>
          </a:p>
        </p:txBody>
      </p:sp>
    </p:spTree>
    <p:extLst>
      <p:ext uri="{BB962C8B-B14F-4D97-AF65-F5344CB8AC3E}">
        <p14:creationId xmlns:p14="http://schemas.microsoft.com/office/powerpoint/2010/main" val="3459395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68F04-7E8B-08D0-179E-2F05E073E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8064" y="264541"/>
            <a:ext cx="6595872" cy="1325563"/>
          </a:xfrm>
        </p:spPr>
        <p:txBody>
          <a:bodyPr/>
          <a:lstStyle/>
          <a:p>
            <a:r>
              <a:rPr lang="ko-KR" altLang="en-US" dirty="0"/>
              <a:t>프로젝트 소감 및 느낀 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6F6467-9611-6768-9854-AEA486057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000" dirty="0"/>
              <a:t> 이희재</a:t>
            </a:r>
            <a:r>
              <a:rPr lang="en-US" altLang="ko-KR" sz="2000" dirty="0"/>
              <a:t>:</a:t>
            </a:r>
            <a:r>
              <a:rPr lang="ko-KR" altLang="en-US" sz="1600" dirty="0"/>
              <a:t>이번 프로젝트는 단순한 기능 구현보다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사용자에게 도움이 되는 서비스를 만드는 과정이었습니다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	</a:t>
            </a:r>
            <a:r>
              <a:rPr lang="ko-KR" altLang="en-US" sz="1600" dirty="0"/>
              <a:t>혼자였다면 중간에 어려움에 부딪혀 포기했을지도 모르지만</a:t>
            </a:r>
            <a:r>
              <a:rPr lang="en-US" altLang="ko-KR" sz="1600" dirty="0"/>
              <a:t>, </a:t>
            </a:r>
            <a:r>
              <a:rPr lang="ko-KR" altLang="en-US" sz="1600" dirty="0"/>
              <a:t>팀원들이 서로 지지하고 힘을 모아준 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	</a:t>
            </a:r>
            <a:r>
              <a:rPr lang="ko-KR" altLang="en-US" sz="1600" dirty="0"/>
              <a:t>덕분에 끝까지 완성할 수 있었습니다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	</a:t>
            </a:r>
            <a:r>
              <a:rPr lang="ko-KR" altLang="en-US" sz="1600" dirty="0"/>
              <a:t>기술적인 성장은 물론</a:t>
            </a:r>
            <a:r>
              <a:rPr lang="en-US" altLang="ko-KR" sz="1600" dirty="0"/>
              <a:t>, </a:t>
            </a:r>
            <a:r>
              <a:rPr lang="ko-KR" altLang="en-US" sz="1600" dirty="0"/>
              <a:t>협업의 가치도 깊이 느낄 수 있었던 소중한 경험이었습니다</a:t>
            </a:r>
            <a:r>
              <a:rPr lang="en-US" altLang="ko-KR" sz="16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68368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50083-D82E-96C1-077A-55AD7FFD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프로젝트 진행 시 어려웠던 점과 극복 사례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8A3755-241E-4FE0-6FD3-9C38BF75B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이희재</a:t>
            </a:r>
            <a:r>
              <a:rPr lang="en-US" altLang="ko-KR" sz="2000" dirty="0"/>
              <a:t>:</a:t>
            </a:r>
            <a:r>
              <a:rPr lang="ko-KR" altLang="en-US" sz="1600" dirty="0"/>
              <a:t>일정은 주간</a:t>
            </a:r>
            <a:r>
              <a:rPr lang="en-US" altLang="ko-KR" sz="1600" dirty="0"/>
              <a:t>·</a:t>
            </a:r>
            <a:r>
              <a:rPr lang="ko-KR" altLang="en-US" sz="1600" dirty="0"/>
              <a:t>월간 단위로 계획했지만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진행 중 예상치 못한 딜레이가 발생하는 경우가 많았고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대처와 조율이 부족했던 점이 아쉬웠습니다</a:t>
            </a:r>
            <a:r>
              <a:rPr lang="en-US" altLang="ko-KR" sz="1600" dirty="0"/>
              <a:t>. </a:t>
            </a:r>
            <a:r>
              <a:rPr lang="ko-KR" altLang="en-US" sz="1600" dirty="0"/>
              <a:t>이후에는 유동적인 일정을 고려해 여유 시간을 반영하고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팀원들과 진행 상황을 더 자주 공유하면서 조금씩 개선해 나갔습니다</a:t>
            </a:r>
            <a:r>
              <a:rPr lang="en-US" altLang="ko-KR" sz="160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65225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0728D4-6BEB-1C49-B3A9-CDDF8C35F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2556" y="2766218"/>
            <a:ext cx="7866888" cy="1325563"/>
          </a:xfrm>
        </p:spPr>
        <p:txBody>
          <a:bodyPr/>
          <a:lstStyle/>
          <a:p>
            <a:pPr algn="ctr"/>
            <a:r>
              <a:rPr lang="ko-KR" altLang="en-US" dirty="0"/>
              <a:t>이상으로 발표를 마치겠습니다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감사합니다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62555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740</Words>
  <Application>Microsoft Office PowerPoint</Application>
  <PresentationFormat>와이드스크린</PresentationFormat>
  <Paragraphs>86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3" baseType="lpstr">
      <vt:lpstr>Inter</vt:lpstr>
      <vt:lpstr>Inter Bold</vt:lpstr>
      <vt:lpstr>Nunito Semi Bold</vt:lpstr>
      <vt:lpstr>맑은 고딕</vt:lpstr>
      <vt:lpstr>Arial</vt:lpstr>
      <vt:lpstr>Gelasio</vt:lpstr>
      <vt:lpstr>Lato</vt:lpstr>
      <vt:lpstr>PT Sans</vt:lpstr>
      <vt:lpstr>Office 테마</vt:lpstr>
      <vt:lpstr>프로젝트 구현 (캡스톤 디자인) 최종 발표</vt:lpstr>
      <vt:lpstr>Contents</vt:lpstr>
      <vt:lpstr>PowerPoint 프레젠테이션</vt:lpstr>
      <vt:lpstr>팀 소개</vt:lpstr>
      <vt:lpstr>프로젝트 소개</vt:lpstr>
      <vt:lpstr>PowerPoint 프레젠테이션</vt:lpstr>
      <vt:lpstr>개발 일정</vt:lpstr>
      <vt:lpstr>PowerPoint 프레젠테이션</vt:lpstr>
      <vt:lpstr>PowerPoint 프레젠테이션</vt:lpstr>
      <vt:lpstr>프로젝트 설계</vt:lpstr>
      <vt:lpstr>프로젝트 아키텍쳐 설계</vt:lpstr>
      <vt:lpstr>스토리 보드</vt:lpstr>
      <vt:lpstr>화면 설계</vt:lpstr>
      <vt:lpstr>데이터베이스 설계</vt:lpstr>
      <vt:lpstr>PowerPoint 프레젠테이션</vt:lpstr>
      <vt:lpstr>PowerPoint 프레젠테이션</vt:lpstr>
      <vt:lpstr>프로젝트 구현</vt:lpstr>
      <vt:lpstr>개발환경 및 도구</vt:lpstr>
      <vt:lpstr>구현기능 시연</vt:lpstr>
      <vt:lpstr>2학기 진행 계획</vt:lpstr>
      <vt:lpstr>결과 및 고찰</vt:lpstr>
      <vt:lpstr>프로젝트 소감 및 느낀 점</vt:lpstr>
      <vt:lpstr>프로젝트 진행 시 어려웠던 점과 극복 사례</vt:lpstr>
      <vt:lpstr>이상으로 발표를 마치겠습니다. 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이희재</dc:creator>
  <cp:lastModifiedBy>이희재</cp:lastModifiedBy>
  <cp:revision>71</cp:revision>
  <dcterms:created xsi:type="dcterms:W3CDTF">2025-06-15T16:03:07Z</dcterms:created>
  <dcterms:modified xsi:type="dcterms:W3CDTF">2025-06-15T19:00:48Z</dcterms:modified>
</cp:coreProperties>
</file>