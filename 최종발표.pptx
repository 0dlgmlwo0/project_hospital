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7" r:id="rId3"/>
    <p:sldId id="265" r:id="rId4"/>
    <p:sldId id="257" r:id="rId5"/>
    <p:sldId id="259" r:id="rId6"/>
    <p:sldId id="260" r:id="rId7"/>
    <p:sldId id="279" r:id="rId8"/>
    <p:sldId id="258" r:id="rId9"/>
    <p:sldId id="261" r:id="rId10"/>
    <p:sldId id="262" r:id="rId11"/>
    <p:sldId id="263" r:id="rId12"/>
    <p:sldId id="278" r:id="rId13"/>
    <p:sldId id="264" r:id="rId14"/>
    <p:sldId id="267" r:id="rId15"/>
    <p:sldId id="269" r:id="rId16"/>
    <p:sldId id="280" r:id="rId17"/>
    <p:sldId id="281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653" autoAdjust="0"/>
    <p:restoredTop sz="94660"/>
  </p:normalViewPr>
  <p:slideViewPr>
    <p:cSldViewPr snapToGrid="0">
      <p:cViewPr varScale="1">
        <p:scale>
          <a:sx n="84" d="100"/>
          <a:sy n="84" d="100"/>
        </p:scale>
        <p:origin x="16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FA9FCF-0192-D348-0290-7A8F1DA91C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A197271-484F-87E0-1204-CCC77AF67C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633614-D998-AC4A-593D-97A9BDAA2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2EEF2-271F-495E-B4A0-FE67426B27F2}" type="datetimeFigureOut">
              <a:rPr lang="ko-KR" altLang="en-US" smtClean="0"/>
              <a:t>2025-06-17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49AE48E-0992-244D-EBF8-F52A7A3D1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2BE955-16AE-0537-E7D2-0BDBC818D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E1BF0-68B6-4811-802E-FB715A47E9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1277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8D97C0-0FAA-3320-3DCE-06D8FE9BE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8E93C8-070F-99A8-51E9-C3425BA420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895F86-C5E0-596A-AF60-E2E0A0DB5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2EEF2-271F-495E-B4A0-FE67426B27F2}" type="datetimeFigureOut">
              <a:rPr lang="ko-KR" altLang="en-US" smtClean="0"/>
              <a:t>2025-06-17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A67FD5-B62E-92D9-7584-5356EDFE6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A3EA8C-6804-3585-1636-89BA021D4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E1BF0-68B6-4811-802E-FB715A47E9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5884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F42B4F-D44B-588A-5857-0A23677DF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35FEC17-5385-E48A-9180-BAC1A80B32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68AA6A-F6F5-4C6A-30C5-B38E93939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2EEF2-271F-495E-B4A0-FE67426B27F2}" type="datetimeFigureOut">
              <a:rPr lang="ko-KR" altLang="en-US" smtClean="0"/>
              <a:t>2025-06-17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FA92A4-39B1-FA30-63EF-FC2A3B7F5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48AF60-0F72-F809-95FC-F009B79B8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E1BF0-68B6-4811-802E-FB715A47E9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9185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04147B-7AE4-C71D-7A57-204D4442E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6EAA0D-3C1C-E3FF-3BAB-E48C99AEB7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A31A60-BD18-9461-66E2-778CB6A7EB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18EF387-31D9-E2E8-1A1E-BD064A960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2EEF2-271F-495E-B4A0-FE67426B27F2}" type="datetimeFigureOut">
              <a:rPr lang="ko-KR" altLang="en-US" smtClean="0"/>
              <a:t>2025-06-17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F7C3DF0-63BF-2215-811C-13EC2E299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047ADFF-BCD0-BE78-BD34-53372843B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E1BF0-68B6-4811-802E-FB715A47E9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4591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671441-4F58-661F-D240-3BCAA3BD3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C102583-5D01-F61E-5B94-29D1F876E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AB30811-718B-23ED-321C-BE54D63F0F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A4DC19B-A66E-509D-5EEA-F7C16305DD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7C2BCEA-2C69-6C57-E97E-FE50E14856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2408AA2-11D1-6AAB-1F09-C629C5E0D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2EEF2-271F-495E-B4A0-FE67426B27F2}" type="datetimeFigureOut">
              <a:rPr lang="ko-KR" altLang="en-US" smtClean="0"/>
              <a:t>2025-06-17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EC42187-F1D6-FA89-D22A-8CD5A6C6A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A3105B1-9F02-0955-4B4D-2A8AA81F1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E1BF0-68B6-4811-802E-FB715A47E9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8104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BD3EB-61C5-9190-986F-8BF14AD48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C8CD4FA-10A4-74C5-B826-3187C6D1B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2EEF2-271F-495E-B4A0-FE67426B27F2}" type="datetimeFigureOut">
              <a:rPr lang="ko-KR" altLang="en-US" smtClean="0"/>
              <a:t>2025-06-17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D03C087-676D-F965-D187-8174B104C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446E850-445C-5011-6335-81FF8F2EA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E1BF0-68B6-4811-802E-FB715A47E9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5915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8E6EDA3-D8E3-7287-0603-5AE502429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2EEF2-271F-495E-B4A0-FE67426B27F2}" type="datetimeFigureOut">
              <a:rPr lang="ko-KR" altLang="en-US" smtClean="0"/>
              <a:t>2025-06-17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2C6C5F2-0C0A-123A-BD25-A0FCDE591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3D716C-C78D-79D4-8DCA-BFB7C7E81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E1BF0-68B6-4811-802E-FB715A47E9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8836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F5A593-4F19-19F7-486D-8CB451668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11488C-B70A-EBF4-0FF2-11CE27A01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B6F044C-BA05-935A-308E-4BB4C9BF5F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227A5DB-9E8B-ECE7-BA3D-D67B9D341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2EEF2-271F-495E-B4A0-FE67426B27F2}" type="datetimeFigureOut">
              <a:rPr lang="ko-KR" altLang="en-US" smtClean="0"/>
              <a:t>2025-06-17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8CFE8A3-BDD4-4379-98D1-3768E784B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ECEC3E9-A044-F36F-BA0D-C2CCEA5FE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E1BF0-68B6-4811-802E-FB715A47E9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8693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394DA6-F193-B15C-6CD8-1BD288618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EC8227D-0CC9-3A2F-5778-890B4B3B4B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83C4980-C7CB-D978-FBED-20F15E98C3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A3F0482-056D-DC24-6E36-8CF00FF5D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2EEF2-271F-495E-B4A0-FE67426B27F2}" type="datetimeFigureOut">
              <a:rPr lang="ko-KR" altLang="en-US" smtClean="0"/>
              <a:t>2025-06-17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0F7C61F-8E5E-9F7B-0462-7BB39884A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93B40C-B349-9897-972F-09C360AE3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E1BF0-68B6-4811-802E-FB715A47E9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4404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DC6C06-565F-3640-6501-0CEF85162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8B06D06-ADEC-D75B-E2EE-97D7569735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14BED5-8035-1A1D-5C7D-C1238A042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2EEF2-271F-495E-B4A0-FE67426B27F2}" type="datetimeFigureOut">
              <a:rPr lang="ko-KR" altLang="en-US" smtClean="0"/>
              <a:t>2025-06-17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7C7CB6-DDAF-4868-5DDF-7F23DAFE3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9FEB23-C3A4-26BE-0B5F-5FBDE266B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E1BF0-68B6-4811-802E-FB715A47E9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8617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2DED2C5-ECF5-63D1-8DD8-3E9B5E2387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2FE032E-8B6B-B01E-C75D-D28EB942FF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09366D-6C83-3C9C-6008-8A1FDDDBC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2EEF2-271F-495E-B4A0-FE67426B27F2}" type="datetimeFigureOut">
              <a:rPr lang="ko-KR" altLang="en-US" smtClean="0"/>
              <a:t>2025-06-17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0AC179-8324-5776-E3E6-9904A6C8F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AB18B2-650D-F211-E1F4-B44B839E0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E1BF0-68B6-4811-802E-FB715A47E9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2612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CA6D918-46AE-E99B-57AC-A6BADDBC7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41BA580-438A-C429-B69D-E7A92B442A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DE39BB-4C01-832D-D9A0-2A5405C8D6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92EEF2-271F-495E-B4A0-FE67426B27F2}" type="datetimeFigureOut">
              <a:rPr lang="ko-KR" altLang="en-US" smtClean="0"/>
              <a:t>2025-06-17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175188-19FA-1498-539B-977E0C3D73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600396-3AA4-43F0-264D-0BA0D20402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9E1BF0-68B6-4811-802E-FB715A47E9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6085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18" Type="http://schemas.openxmlformats.org/officeDocument/2006/relationships/image" Target="../media/image50.png"/><Relationship Id="rId26" Type="http://schemas.openxmlformats.org/officeDocument/2006/relationships/image" Target="../media/image57.png"/><Relationship Id="rId3" Type="http://schemas.openxmlformats.org/officeDocument/2006/relationships/image" Target="../media/image36.png"/><Relationship Id="rId21" Type="http://schemas.openxmlformats.org/officeDocument/2006/relationships/image" Target="../media/image52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17" Type="http://schemas.microsoft.com/office/2007/relationships/hdphoto" Target="../media/hdphoto1.wdp"/><Relationship Id="rId25" Type="http://schemas.openxmlformats.org/officeDocument/2006/relationships/image" Target="../media/image56.png"/><Relationship Id="rId2" Type="http://schemas.openxmlformats.org/officeDocument/2006/relationships/image" Target="../media/image35.png"/><Relationship Id="rId16" Type="http://schemas.openxmlformats.org/officeDocument/2006/relationships/image" Target="../media/image49.png"/><Relationship Id="rId20" Type="http://schemas.microsoft.com/office/2007/relationships/hdphoto" Target="../media/hdphoto2.wdp"/><Relationship Id="rId29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24" Type="http://schemas.openxmlformats.org/officeDocument/2006/relationships/image" Target="../media/image55.png"/><Relationship Id="rId5" Type="http://schemas.openxmlformats.org/officeDocument/2006/relationships/image" Target="../media/image38.png"/><Relationship Id="rId15" Type="http://schemas.openxmlformats.org/officeDocument/2006/relationships/image" Target="../media/image48.png"/><Relationship Id="rId23" Type="http://schemas.openxmlformats.org/officeDocument/2006/relationships/image" Target="../media/image54.png"/><Relationship Id="rId28" Type="http://schemas.microsoft.com/office/2007/relationships/hdphoto" Target="../media/hdphoto3.wdp"/><Relationship Id="rId10" Type="http://schemas.openxmlformats.org/officeDocument/2006/relationships/image" Target="../media/image43.png"/><Relationship Id="rId19" Type="http://schemas.openxmlformats.org/officeDocument/2006/relationships/image" Target="../media/image51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Relationship Id="rId14" Type="http://schemas.openxmlformats.org/officeDocument/2006/relationships/image" Target="../media/image47.png"/><Relationship Id="rId22" Type="http://schemas.openxmlformats.org/officeDocument/2006/relationships/image" Target="../media/image53.png"/><Relationship Id="rId27" Type="http://schemas.openxmlformats.org/officeDocument/2006/relationships/image" Target="../media/image5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hyperlink" Target="https://hospitalmap.duckdns.org/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750DC-87A4-45CD-E324-F535D8C1DE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/>
              <a:t>프로젝트 구현</a:t>
            </a:r>
            <a:br>
              <a:rPr lang="en-US" altLang="ko-KR"/>
            </a:br>
            <a:r>
              <a:rPr lang="en-US" altLang="ko-KR"/>
              <a:t>(</a:t>
            </a:r>
            <a:r>
              <a:rPr lang="ko-KR" altLang="en-US"/>
              <a:t>캡스톤 디자인</a:t>
            </a:r>
            <a:r>
              <a:rPr lang="en-US" altLang="ko-KR"/>
              <a:t>)</a:t>
            </a:r>
            <a:br>
              <a:rPr lang="en-US" altLang="ko-KR"/>
            </a:br>
            <a:r>
              <a:rPr lang="ko-KR" altLang="en-US"/>
              <a:t>최종 발표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8D670FF-0301-B802-2C70-74F44F7FB7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70718"/>
            <a:ext cx="9144000" cy="659066"/>
          </a:xfrm>
        </p:spPr>
        <p:txBody>
          <a:bodyPr/>
          <a:lstStyle/>
          <a:p>
            <a:r>
              <a:rPr lang="ko-KR" altLang="en-US"/>
              <a:t>평균 </a:t>
            </a:r>
            <a:r>
              <a:rPr lang="en-US" altLang="ko-KR"/>
              <a:t>25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00443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3F41AF-47D9-6F36-5CE5-360D4D8BD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495" y="2766218"/>
            <a:ext cx="2581656" cy="1325563"/>
          </a:xfrm>
        </p:spPr>
        <p:txBody>
          <a:bodyPr/>
          <a:lstStyle/>
          <a:p>
            <a:r>
              <a:rPr lang="en-US" altLang="ko-KR" dirty="0"/>
              <a:t>Contents</a:t>
            </a:r>
            <a:endParaRPr lang="ko-KR" altLang="en-US" dirty="0"/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98A8744A-7002-5AA2-F08D-6EB2342998F1}"/>
              </a:ext>
            </a:extLst>
          </p:cNvPr>
          <p:cNvGrpSpPr/>
          <p:nvPr/>
        </p:nvGrpSpPr>
        <p:grpSpPr>
          <a:xfrm>
            <a:off x="4761589" y="747098"/>
            <a:ext cx="7750016" cy="1194911"/>
            <a:chOff x="474038" y="2773163"/>
            <a:chExt cx="7750016" cy="1194911"/>
          </a:xfrm>
        </p:grpSpPr>
        <p:pic>
          <p:nvPicPr>
            <p:cNvPr id="5" name="Image 1" descr="preencoded.png">
              <a:extLst>
                <a:ext uri="{FF2B5EF4-FFF2-40B4-BE49-F238E27FC236}">
                  <a16:creationId xmlns:a16="http://schemas.microsoft.com/office/drawing/2014/main" id="{A2734988-F3D0-2502-46F0-05883EEBE7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4038" y="2773163"/>
              <a:ext cx="995720" cy="1194911"/>
            </a:xfrm>
            <a:prstGeom prst="rect">
              <a:avLst/>
            </a:prstGeom>
          </p:spPr>
        </p:pic>
        <p:sp>
          <p:nvSpPr>
            <p:cNvPr id="6" name="Text 1">
              <a:extLst>
                <a:ext uri="{FF2B5EF4-FFF2-40B4-BE49-F238E27FC236}">
                  <a16:creationId xmlns:a16="http://schemas.microsoft.com/office/drawing/2014/main" id="{B201AF0E-FF4C-5799-5BC3-02344551D63F}"/>
                </a:ext>
              </a:extLst>
            </p:cNvPr>
            <p:cNvSpPr/>
            <p:nvPr/>
          </p:nvSpPr>
          <p:spPr>
            <a:xfrm>
              <a:off x="1668830" y="2972236"/>
              <a:ext cx="2489478" cy="31111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450"/>
                </a:lnSpc>
                <a:buNone/>
              </a:pPr>
              <a:r>
                <a:rPr lang="en-US" sz="1950" dirty="0">
                  <a:solidFill>
                    <a:srgbClr val="272525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프로젝트 개요</a:t>
              </a:r>
              <a:endParaRPr lang="en-US" sz="1950" dirty="0"/>
            </a:p>
          </p:txBody>
        </p:sp>
        <p:sp>
          <p:nvSpPr>
            <p:cNvPr id="7" name="Text 2">
              <a:extLst>
                <a:ext uri="{FF2B5EF4-FFF2-40B4-BE49-F238E27FC236}">
                  <a16:creationId xmlns:a16="http://schemas.microsoft.com/office/drawing/2014/main" id="{A5968AEF-9388-5756-8DA4-CFEBB341A63B}"/>
                </a:ext>
              </a:extLst>
            </p:cNvPr>
            <p:cNvSpPr/>
            <p:nvPr/>
          </p:nvSpPr>
          <p:spPr>
            <a:xfrm>
              <a:off x="1668830" y="3402766"/>
              <a:ext cx="6555224" cy="31861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500"/>
                </a:lnSpc>
                <a:buNone/>
              </a:pPr>
              <a:r>
                <a:rPr lang="en-US" sz="1550" dirty="0">
                  <a:solidFill>
                    <a:srgbClr val="272525"/>
                  </a:solidFill>
                  <a:latin typeface="Lato" pitchFamily="34" charset="0"/>
                  <a:ea typeface="Lato" pitchFamily="34" charset="-122"/>
                  <a:cs typeface="Lato" pitchFamily="34" charset="-120"/>
                </a:rPr>
                <a:t>팀 소개, 프로젝트 주제 및 특장점</a:t>
              </a:r>
              <a:endParaRPr lang="en-US" sz="1550" dirty="0"/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97BB6151-8449-3CDA-C86E-EC442E7B0507}"/>
              </a:ext>
            </a:extLst>
          </p:cNvPr>
          <p:cNvGrpSpPr/>
          <p:nvPr/>
        </p:nvGrpSpPr>
        <p:grpSpPr>
          <a:xfrm>
            <a:off x="4761589" y="2094335"/>
            <a:ext cx="7750016" cy="1194911"/>
            <a:chOff x="6537614" y="2599174"/>
            <a:chExt cx="7750016" cy="1194911"/>
          </a:xfrm>
        </p:grpSpPr>
        <p:pic>
          <p:nvPicPr>
            <p:cNvPr id="8" name="Image 2" descr="preencoded.png">
              <a:extLst>
                <a:ext uri="{FF2B5EF4-FFF2-40B4-BE49-F238E27FC236}">
                  <a16:creationId xmlns:a16="http://schemas.microsoft.com/office/drawing/2014/main" id="{DC33BC86-0189-EEFB-0A59-DA21383BF93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37614" y="2599174"/>
              <a:ext cx="995720" cy="1194911"/>
            </a:xfrm>
            <a:prstGeom prst="rect">
              <a:avLst/>
            </a:prstGeom>
          </p:spPr>
        </p:pic>
        <p:sp>
          <p:nvSpPr>
            <p:cNvPr id="9" name="Text 3">
              <a:extLst>
                <a:ext uri="{FF2B5EF4-FFF2-40B4-BE49-F238E27FC236}">
                  <a16:creationId xmlns:a16="http://schemas.microsoft.com/office/drawing/2014/main" id="{2D8C7589-8D54-83CE-EC48-CD2771113C91}"/>
                </a:ext>
              </a:extLst>
            </p:cNvPr>
            <p:cNvSpPr/>
            <p:nvPr/>
          </p:nvSpPr>
          <p:spPr>
            <a:xfrm>
              <a:off x="7732406" y="2798247"/>
              <a:ext cx="2489478" cy="31111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450"/>
                </a:lnSpc>
                <a:buNone/>
              </a:pPr>
              <a:r>
                <a:rPr lang="en-US" sz="1950" dirty="0">
                  <a:solidFill>
                    <a:srgbClr val="272525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프로젝트 설계</a:t>
              </a:r>
              <a:endParaRPr lang="en-US" sz="1950" dirty="0"/>
            </a:p>
          </p:txBody>
        </p:sp>
        <p:sp>
          <p:nvSpPr>
            <p:cNvPr id="10" name="Text 4">
              <a:extLst>
                <a:ext uri="{FF2B5EF4-FFF2-40B4-BE49-F238E27FC236}">
                  <a16:creationId xmlns:a16="http://schemas.microsoft.com/office/drawing/2014/main" id="{00651C50-C481-A865-13F6-3189F59E37FE}"/>
                </a:ext>
              </a:extLst>
            </p:cNvPr>
            <p:cNvSpPr/>
            <p:nvPr/>
          </p:nvSpPr>
          <p:spPr>
            <a:xfrm>
              <a:off x="7732406" y="3228777"/>
              <a:ext cx="6555224" cy="31861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500"/>
                </a:lnSpc>
                <a:buNone/>
              </a:pPr>
              <a:r>
                <a:rPr lang="en-US" sz="1550" dirty="0">
                  <a:solidFill>
                    <a:srgbClr val="272525"/>
                  </a:solidFill>
                  <a:latin typeface="Lato" pitchFamily="34" charset="0"/>
                  <a:ea typeface="Lato" pitchFamily="34" charset="-122"/>
                  <a:cs typeface="Lato" pitchFamily="34" charset="-120"/>
                </a:rPr>
                <a:t>아키텍처, 스토리보드, 화면, 데이터베이스 설계</a:t>
              </a:r>
              <a:endParaRPr lang="en-US" sz="1550" dirty="0"/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B5A2FC6F-3641-D7E5-D590-750FF6F90933}"/>
              </a:ext>
            </a:extLst>
          </p:cNvPr>
          <p:cNvGrpSpPr/>
          <p:nvPr/>
        </p:nvGrpSpPr>
        <p:grpSpPr>
          <a:xfrm>
            <a:off x="4761589" y="3428999"/>
            <a:ext cx="7750016" cy="1194911"/>
            <a:chOff x="2853344" y="4047847"/>
            <a:chExt cx="7750016" cy="1194911"/>
          </a:xfrm>
        </p:grpSpPr>
        <p:pic>
          <p:nvPicPr>
            <p:cNvPr id="11" name="Image 3" descr="preencoded.png">
              <a:extLst>
                <a:ext uri="{FF2B5EF4-FFF2-40B4-BE49-F238E27FC236}">
                  <a16:creationId xmlns:a16="http://schemas.microsoft.com/office/drawing/2014/main" id="{FD4E5B04-FBC4-8FBC-8D1F-46855FB4C1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53344" y="4047847"/>
              <a:ext cx="995720" cy="1194911"/>
            </a:xfrm>
            <a:prstGeom prst="rect">
              <a:avLst/>
            </a:prstGeom>
          </p:spPr>
        </p:pic>
        <p:sp>
          <p:nvSpPr>
            <p:cNvPr id="12" name="Text 5">
              <a:extLst>
                <a:ext uri="{FF2B5EF4-FFF2-40B4-BE49-F238E27FC236}">
                  <a16:creationId xmlns:a16="http://schemas.microsoft.com/office/drawing/2014/main" id="{36838107-128F-CAF1-C43A-9BD4F3723E6F}"/>
                </a:ext>
              </a:extLst>
            </p:cNvPr>
            <p:cNvSpPr/>
            <p:nvPr/>
          </p:nvSpPr>
          <p:spPr>
            <a:xfrm>
              <a:off x="4048136" y="4246919"/>
              <a:ext cx="2489478" cy="31111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450"/>
                </a:lnSpc>
                <a:buNone/>
              </a:pPr>
              <a:r>
                <a:rPr lang="en-US" sz="1950" dirty="0">
                  <a:solidFill>
                    <a:srgbClr val="272525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프로젝트 구현</a:t>
              </a:r>
              <a:endParaRPr lang="en-US" sz="1950" dirty="0"/>
            </a:p>
          </p:txBody>
        </p:sp>
        <p:sp>
          <p:nvSpPr>
            <p:cNvPr id="13" name="Text 6">
              <a:extLst>
                <a:ext uri="{FF2B5EF4-FFF2-40B4-BE49-F238E27FC236}">
                  <a16:creationId xmlns:a16="http://schemas.microsoft.com/office/drawing/2014/main" id="{08ACFA5B-24B2-7D33-B6CC-12B14E93B5D7}"/>
                </a:ext>
              </a:extLst>
            </p:cNvPr>
            <p:cNvSpPr/>
            <p:nvPr/>
          </p:nvSpPr>
          <p:spPr>
            <a:xfrm>
              <a:off x="4048136" y="4677449"/>
              <a:ext cx="6555224" cy="31861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500"/>
                </a:lnSpc>
                <a:buNone/>
              </a:pPr>
              <a:r>
                <a:rPr lang="en-US" sz="1550" dirty="0">
                  <a:solidFill>
                    <a:srgbClr val="272525"/>
                  </a:solidFill>
                  <a:latin typeface="Lato" pitchFamily="34" charset="0"/>
                  <a:ea typeface="Lato" pitchFamily="34" charset="-122"/>
                  <a:cs typeface="Lato" pitchFamily="34" charset="-120"/>
                </a:rPr>
                <a:t>개발환경, 구현 기능 및 시연</a:t>
              </a:r>
              <a:endParaRPr lang="en-US" sz="1550" dirty="0"/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055C4A38-AAF1-A678-2343-8CA91353D06E}"/>
              </a:ext>
            </a:extLst>
          </p:cNvPr>
          <p:cNvGrpSpPr/>
          <p:nvPr/>
        </p:nvGrpSpPr>
        <p:grpSpPr>
          <a:xfrm>
            <a:off x="4761589" y="4795808"/>
            <a:ext cx="7750016" cy="1194911"/>
            <a:chOff x="2853344" y="5242758"/>
            <a:chExt cx="7750016" cy="1194911"/>
          </a:xfrm>
        </p:grpSpPr>
        <p:pic>
          <p:nvPicPr>
            <p:cNvPr id="14" name="Image 4" descr="preencoded.png">
              <a:extLst>
                <a:ext uri="{FF2B5EF4-FFF2-40B4-BE49-F238E27FC236}">
                  <a16:creationId xmlns:a16="http://schemas.microsoft.com/office/drawing/2014/main" id="{AC21FE61-9ED6-FFC9-2E5A-DFF9EFFF80B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853344" y="5242758"/>
              <a:ext cx="995720" cy="1194911"/>
            </a:xfrm>
            <a:prstGeom prst="rect">
              <a:avLst/>
            </a:prstGeom>
          </p:spPr>
        </p:pic>
        <p:sp>
          <p:nvSpPr>
            <p:cNvPr id="15" name="Text 7">
              <a:extLst>
                <a:ext uri="{FF2B5EF4-FFF2-40B4-BE49-F238E27FC236}">
                  <a16:creationId xmlns:a16="http://schemas.microsoft.com/office/drawing/2014/main" id="{B610D6B4-C844-C3D6-ABFD-B1D0A2153188}"/>
                </a:ext>
              </a:extLst>
            </p:cNvPr>
            <p:cNvSpPr/>
            <p:nvPr/>
          </p:nvSpPr>
          <p:spPr>
            <a:xfrm>
              <a:off x="4048136" y="5441830"/>
              <a:ext cx="2489478" cy="31111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450"/>
                </a:lnSpc>
                <a:buNone/>
              </a:pPr>
              <a:r>
                <a:rPr lang="en-US" sz="1950" dirty="0">
                  <a:solidFill>
                    <a:srgbClr val="272525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결과 및 고찰</a:t>
              </a:r>
              <a:endParaRPr lang="en-US" sz="1950" dirty="0"/>
            </a:p>
          </p:txBody>
        </p:sp>
        <p:sp>
          <p:nvSpPr>
            <p:cNvPr id="16" name="Text 8">
              <a:extLst>
                <a:ext uri="{FF2B5EF4-FFF2-40B4-BE49-F238E27FC236}">
                  <a16:creationId xmlns:a16="http://schemas.microsoft.com/office/drawing/2014/main" id="{5C4D28AB-D66F-5842-B3EA-AA30132BAC6A}"/>
                </a:ext>
              </a:extLst>
            </p:cNvPr>
            <p:cNvSpPr/>
            <p:nvPr/>
          </p:nvSpPr>
          <p:spPr>
            <a:xfrm>
              <a:off x="4048136" y="5872360"/>
              <a:ext cx="6555224" cy="31861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500"/>
                </a:lnSpc>
                <a:buNone/>
              </a:pPr>
              <a:r>
                <a:rPr lang="en-US" sz="1550" dirty="0">
                  <a:solidFill>
                    <a:srgbClr val="272525"/>
                  </a:solidFill>
                  <a:latin typeface="Lato" pitchFamily="34" charset="0"/>
                  <a:ea typeface="Lato" pitchFamily="34" charset="-122"/>
                  <a:cs typeface="Lato" pitchFamily="34" charset="-120"/>
                </a:rPr>
                <a:t>진행 계획, 소감 및 어려웠던 점</a:t>
              </a:r>
              <a:endParaRPr lang="en-US" sz="1550" dirty="0"/>
            </a:p>
          </p:txBody>
        </p:sp>
      </p:grpSp>
    </p:spTree>
    <p:extLst>
      <p:ext uri="{BB962C8B-B14F-4D97-AF65-F5344CB8AC3E}">
        <p14:creationId xmlns:p14="http://schemas.microsoft.com/office/powerpoint/2010/main" val="1252604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0A45B22F-20E0-A248-642F-CB428E718512}"/>
              </a:ext>
            </a:extLst>
          </p:cNvPr>
          <p:cNvSpPr/>
          <p:nvPr/>
        </p:nvSpPr>
        <p:spPr>
          <a:xfrm>
            <a:off x="4370070" y="3118961"/>
            <a:ext cx="1725930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ko-KR" altLang="en-US" sz="4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프로젝트 개요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09133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1">
            <a:extLst>
              <a:ext uri="{FF2B5EF4-FFF2-40B4-BE49-F238E27FC236}">
                <a16:creationId xmlns:a16="http://schemas.microsoft.com/office/drawing/2014/main" id="{8C86A16A-3ABA-B15C-8E1F-BDBA09444F51}"/>
              </a:ext>
            </a:extLst>
          </p:cNvPr>
          <p:cNvSpPr/>
          <p:nvPr/>
        </p:nvSpPr>
        <p:spPr>
          <a:xfrm>
            <a:off x="1245870" y="1689269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8EEC4F55-884E-DF5A-E7F9-2CCDE213E4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284" y="1726476"/>
            <a:ext cx="297656" cy="372070"/>
          </a:xfrm>
          <a:prstGeom prst="rect">
            <a:avLst/>
          </a:prstGeom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5CB99DFA-AF70-3FCA-C6E1-7A2F7AD8EDDC}"/>
              </a:ext>
            </a:extLst>
          </p:cNvPr>
          <p:cNvSpPr/>
          <p:nvPr/>
        </p:nvSpPr>
        <p:spPr>
          <a:xfrm>
            <a:off x="1890712" y="175749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팀명: 평균 25</a:t>
            </a:r>
            <a:endParaRPr lang="en-US" sz="1950" dirty="0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E7E93512-C19F-134C-1C5C-E9C43D4BFD7F}"/>
              </a:ext>
            </a:extLst>
          </p:cNvPr>
          <p:cNvSpPr/>
          <p:nvPr/>
        </p:nvSpPr>
        <p:spPr>
          <a:xfrm>
            <a:off x="1890712" y="2186712"/>
            <a:ext cx="6911578" cy="438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ko-KR" alt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저희 팀원들의 나이의 평균을 내면 평균 </a:t>
            </a:r>
            <a:r>
              <a:rPr lang="en-US" altLang="ko-KR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 </a:t>
            </a:r>
            <a:r>
              <a:rPr lang="ko-KR" alt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이어서 지은 </a:t>
            </a:r>
            <a:r>
              <a:rPr lang="ko-KR" altLang="en-US" sz="15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팀명입니다</a:t>
            </a:r>
            <a:r>
              <a:rPr lang="en-US" altLang="ko-KR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550" dirty="0"/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D5DF9B32-13AB-A441-18BD-0D9CF58AD493}"/>
              </a:ext>
            </a:extLst>
          </p:cNvPr>
          <p:cNvGrpSpPr/>
          <p:nvPr/>
        </p:nvGrpSpPr>
        <p:grpSpPr>
          <a:xfrm>
            <a:off x="1273611" y="3421223"/>
            <a:ext cx="3125747" cy="446484"/>
            <a:chOff x="2023110" y="3043714"/>
            <a:chExt cx="3125747" cy="446484"/>
          </a:xfrm>
        </p:grpSpPr>
        <p:sp>
          <p:nvSpPr>
            <p:cNvPr id="11" name="Shape 4">
              <a:extLst>
                <a:ext uri="{FF2B5EF4-FFF2-40B4-BE49-F238E27FC236}">
                  <a16:creationId xmlns:a16="http://schemas.microsoft.com/office/drawing/2014/main" id="{F5D1692E-BCA4-6656-8955-EBBE1630B5FA}"/>
                </a:ext>
              </a:extLst>
            </p:cNvPr>
            <p:cNvSpPr/>
            <p:nvPr/>
          </p:nvSpPr>
          <p:spPr>
            <a:xfrm>
              <a:off x="2023110" y="3043714"/>
              <a:ext cx="446484" cy="446484"/>
            </a:xfrm>
            <a:prstGeom prst="roundRect">
              <a:avLst>
                <a:gd name="adj" fmla="val 18670"/>
              </a:avLst>
            </a:prstGeom>
            <a:solidFill>
              <a:srgbClr val="DADBF1"/>
            </a:solidFill>
            <a:ln w="7620">
              <a:solidFill>
                <a:srgbClr val="C0C1D7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2" name="Image 2" descr="preencoded.png">
              <a:extLst>
                <a:ext uri="{FF2B5EF4-FFF2-40B4-BE49-F238E27FC236}">
                  <a16:creationId xmlns:a16="http://schemas.microsoft.com/office/drawing/2014/main" id="{9491A0FB-5192-2ECB-87E8-992BB86ED8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97524" y="3118068"/>
              <a:ext cx="297656" cy="297656"/>
            </a:xfrm>
            <a:prstGeom prst="rect">
              <a:avLst/>
            </a:prstGeom>
          </p:spPr>
        </p:pic>
        <p:sp>
          <p:nvSpPr>
            <p:cNvPr id="13" name="Text 5">
              <a:extLst>
                <a:ext uri="{FF2B5EF4-FFF2-40B4-BE49-F238E27FC236}">
                  <a16:creationId xmlns:a16="http://schemas.microsoft.com/office/drawing/2014/main" id="{77007089-97A7-F751-2DC4-FF3670005B7A}"/>
                </a:ext>
              </a:extLst>
            </p:cNvPr>
            <p:cNvSpPr/>
            <p:nvPr/>
          </p:nvSpPr>
          <p:spPr>
            <a:xfrm>
              <a:off x="2667952" y="3111937"/>
              <a:ext cx="2480905" cy="3101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400"/>
                </a:lnSpc>
                <a:buNone/>
              </a:pPr>
              <a:r>
                <a:rPr lang="en-US" sz="1950" b="1" dirty="0">
                  <a:solidFill>
                    <a:srgbClr val="272525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팀원 구성</a:t>
              </a:r>
              <a:endParaRPr lang="en-US" sz="1950" dirty="0"/>
            </a:p>
          </p:txBody>
        </p:sp>
      </p:grpSp>
      <p:sp>
        <p:nvSpPr>
          <p:cNvPr id="14" name="Text 6">
            <a:extLst>
              <a:ext uri="{FF2B5EF4-FFF2-40B4-BE49-F238E27FC236}">
                <a16:creationId xmlns:a16="http://schemas.microsoft.com/office/drawing/2014/main" id="{094D8182-D778-D53A-43C6-FFFD63AADD79}"/>
              </a:ext>
            </a:extLst>
          </p:cNvPr>
          <p:cNvSpPr/>
          <p:nvPr/>
        </p:nvSpPr>
        <p:spPr>
          <a:xfrm>
            <a:off x="1890712" y="4372807"/>
            <a:ext cx="691157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배한결: </a:t>
            </a:r>
            <a:r>
              <a:rPr lang="ko-KR" altLang="en-US" sz="1400" dirty="0" err="1"/>
              <a:t>프론트엔드</a:t>
            </a:r>
            <a:r>
              <a:rPr lang="ko-KR" altLang="en-US" sz="1400" dirty="0"/>
              <a:t> 개발</a:t>
            </a:r>
            <a:r>
              <a:rPr lang="en-US" altLang="ko-KR" sz="1400" dirty="0"/>
              <a:t>, UI </a:t>
            </a:r>
            <a:r>
              <a:rPr lang="ko-KR" altLang="en-US" sz="1400" dirty="0"/>
              <a:t>및 </a:t>
            </a:r>
            <a:r>
              <a:rPr lang="en-US" altLang="ko-KR" sz="1400" dirty="0"/>
              <a:t>API </a:t>
            </a:r>
            <a:r>
              <a:rPr lang="ko-KR" altLang="en-US" sz="1400" dirty="0"/>
              <a:t>연동</a:t>
            </a:r>
            <a:r>
              <a:rPr lang="en-US" altLang="ko-KR" sz="1400" dirty="0"/>
              <a:t>, </a:t>
            </a:r>
            <a:r>
              <a:rPr lang="ko-KR" altLang="en-US" sz="1400" dirty="0"/>
              <a:t>실시간 </a:t>
            </a:r>
            <a:r>
              <a:rPr lang="en-US" altLang="ko-KR" sz="1400" dirty="0"/>
              <a:t>WebSocket·</a:t>
            </a:r>
            <a:r>
              <a:rPr lang="ko-KR" altLang="en-US" sz="1400" dirty="0"/>
              <a:t>자동화 시스템 프론트 구현 수행</a:t>
            </a:r>
            <a:r>
              <a:rPr lang="en-US" altLang="ko-KR" sz="1400" dirty="0"/>
              <a:t>.</a:t>
            </a:r>
            <a:endParaRPr lang="en-US" sz="1550" dirty="0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8B9C9575-939A-5A87-358A-AA99EC1A0207}"/>
              </a:ext>
            </a:extLst>
          </p:cNvPr>
          <p:cNvSpPr/>
          <p:nvPr/>
        </p:nvSpPr>
        <p:spPr>
          <a:xfrm>
            <a:off x="1890712" y="4793509"/>
            <a:ext cx="691157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박민성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</a:t>
            </a:r>
            <a:r>
              <a:rPr lang="en-US" altLang="ko-KR" sz="1400" dirty="0"/>
              <a:t>TTS </a:t>
            </a:r>
            <a:r>
              <a:rPr lang="ko-KR" altLang="en-US" sz="1400" dirty="0"/>
              <a:t>개발</a:t>
            </a:r>
            <a:r>
              <a:rPr lang="en-US" altLang="ko-KR" sz="1400" dirty="0"/>
              <a:t>, CI/CD </a:t>
            </a:r>
            <a:r>
              <a:rPr lang="ko-KR" altLang="en-US" sz="1400" dirty="0"/>
              <a:t>구축</a:t>
            </a:r>
            <a:r>
              <a:rPr lang="en-US" altLang="ko-KR" sz="1400" dirty="0"/>
              <a:t>, </a:t>
            </a:r>
            <a:r>
              <a:rPr lang="ko-KR" altLang="en-US" sz="1400" dirty="0"/>
              <a:t>프론트 디자인</a:t>
            </a:r>
            <a:r>
              <a:rPr lang="en-US" altLang="ko-KR" sz="1400" dirty="0"/>
              <a:t>, AWS </a:t>
            </a:r>
            <a:r>
              <a:rPr lang="ko-KR" altLang="en-US" sz="1400" dirty="0"/>
              <a:t>기반 웹 서버 및 </a:t>
            </a:r>
            <a:r>
              <a:rPr lang="en-US" altLang="ko-KR" sz="1400" dirty="0"/>
              <a:t>DNS </a:t>
            </a:r>
            <a:r>
              <a:rPr lang="ko-KR" altLang="en-US" sz="1400" dirty="0"/>
              <a:t>설정 수행</a:t>
            </a:r>
            <a:r>
              <a:rPr lang="en-US" altLang="ko-KR" sz="1200" dirty="0"/>
              <a:t>.</a:t>
            </a:r>
            <a:endParaRPr lang="en-US" sz="1550" dirty="0"/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F51A5963-C420-A794-268D-B9D885B2D16F}"/>
              </a:ext>
            </a:extLst>
          </p:cNvPr>
          <p:cNvSpPr/>
          <p:nvPr/>
        </p:nvSpPr>
        <p:spPr>
          <a:xfrm>
            <a:off x="1890712" y="5185304"/>
            <a:ext cx="691157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유희태: </a:t>
            </a:r>
            <a:r>
              <a:rPr lang="ko-KR" altLang="en-US" sz="1400" dirty="0"/>
              <a:t>공공 </a:t>
            </a:r>
            <a:r>
              <a:rPr lang="en-US" altLang="ko-KR" sz="1400" dirty="0"/>
              <a:t>API </a:t>
            </a:r>
            <a:r>
              <a:rPr lang="ko-KR" altLang="en-US" sz="1400" dirty="0"/>
              <a:t>연동</a:t>
            </a:r>
            <a:r>
              <a:rPr lang="en-US" altLang="ko-KR" sz="1400" dirty="0"/>
              <a:t>, </a:t>
            </a:r>
            <a:r>
              <a:rPr lang="ko-KR" altLang="en-US" sz="1400" dirty="0"/>
              <a:t>데이터 자동화 시스템 및 실시간 응급실 </a:t>
            </a:r>
            <a:r>
              <a:rPr lang="en-US" altLang="ko-KR" sz="1400" dirty="0"/>
              <a:t>WebSocket </a:t>
            </a:r>
            <a:r>
              <a:rPr lang="ko-KR" altLang="en-US" sz="1400" dirty="0"/>
              <a:t>서비스 구축</a:t>
            </a:r>
            <a:r>
              <a:rPr lang="en-US" altLang="ko-KR" sz="1400" dirty="0"/>
              <a:t>, </a:t>
            </a:r>
            <a:r>
              <a:rPr lang="ko-KR" altLang="en-US" sz="1400" dirty="0"/>
              <a:t>조건 기반 필터 및 거리 검색 구현</a:t>
            </a:r>
            <a:r>
              <a:rPr lang="en-US" altLang="ko-KR" sz="1400" dirty="0"/>
              <a:t>.</a:t>
            </a:r>
            <a:endParaRPr lang="en-US" sz="1550" dirty="0"/>
          </a:p>
        </p:txBody>
      </p:sp>
      <p:sp>
        <p:nvSpPr>
          <p:cNvPr id="21" name="Text 3">
            <a:extLst>
              <a:ext uri="{FF2B5EF4-FFF2-40B4-BE49-F238E27FC236}">
                <a16:creationId xmlns:a16="http://schemas.microsoft.com/office/drawing/2014/main" id="{131B3A27-658C-7D8C-66F4-1DB9CA8CB586}"/>
              </a:ext>
            </a:extLst>
          </p:cNvPr>
          <p:cNvSpPr/>
          <p:nvPr/>
        </p:nvSpPr>
        <p:spPr>
          <a:xfrm>
            <a:off x="1890712" y="3981012"/>
            <a:ext cx="9438704" cy="371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이희재(</a:t>
            </a:r>
            <a:r>
              <a:rPr lang="en-US" sz="15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팀장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):</a:t>
            </a:r>
            <a:r>
              <a:rPr lang="en-US" altLang="ko-KR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ko-KR" altLang="en-US" sz="1400" dirty="0"/>
              <a:t>데이터베이스 설계</a:t>
            </a:r>
            <a:r>
              <a:rPr lang="en-US" altLang="ko-KR" sz="1400" dirty="0"/>
              <a:t>, API </a:t>
            </a:r>
            <a:r>
              <a:rPr lang="ko-KR" altLang="en-US" sz="1400" dirty="0"/>
              <a:t>기반 자동화 구현</a:t>
            </a:r>
            <a:r>
              <a:rPr lang="en-US" altLang="ko-KR" sz="1400" dirty="0"/>
              <a:t>, </a:t>
            </a:r>
            <a:r>
              <a:rPr lang="ko-KR" altLang="en-US" sz="1400" dirty="0"/>
              <a:t>프로젝트 일정 관리 및 문서 작업 전담</a:t>
            </a:r>
            <a:r>
              <a:rPr lang="en-US" altLang="ko-KR" sz="1400" dirty="0"/>
              <a:t>.</a:t>
            </a:r>
            <a:endParaRPr lang="en-US" sz="1550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416D7CE5-FFC2-9D25-138F-85FEA1083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7582" y="162538"/>
            <a:ext cx="2116836" cy="1325563"/>
          </a:xfrm>
        </p:spPr>
        <p:txBody>
          <a:bodyPr/>
          <a:lstStyle/>
          <a:p>
            <a:r>
              <a:rPr lang="ko-KR" altLang="en-US" dirty="0"/>
              <a:t>팀 소개</a:t>
            </a:r>
          </a:p>
        </p:txBody>
      </p:sp>
    </p:spTree>
    <p:extLst>
      <p:ext uri="{BB962C8B-B14F-4D97-AF65-F5344CB8AC3E}">
        <p14:creationId xmlns:p14="http://schemas.microsoft.com/office/powerpoint/2010/main" val="962881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F034FA-88DF-FA96-CD34-77D245289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6498FD4-04EB-8D2E-191C-EA0B94A3C67F}"/>
              </a:ext>
            </a:extLst>
          </p:cNvPr>
          <p:cNvSpPr txBox="1"/>
          <p:nvPr/>
        </p:nvSpPr>
        <p:spPr>
          <a:xfrm>
            <a:off x="6657715" y="467271"/>
            <a:ext cx="4195674" cy="205252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atinLnBrk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ko-KR" altLang="en-US" sz="2200" b="1" dirty="0">
                <a:latin typeface="+mj-lt"/>
                <a:ea typeface="+mj-ea"/>
                <a:cs typeface="+mj-cs"/>
              </a:rPr>
              <a:t>프로젝트 명</a:t>
            </a:r>
            <a:endParaRPr lang="en-US" altLang="ko-KR" sz="2200" b="1" dirty="0">
              <a:latin typeface="+mj-lt"/>
              <a:ea typeface="+mj-ea"/>
              <a:cs typeface="+mj-cs"/>
            </a:endParaRPr>
          </a:p>
          <a:p>
            <a:pPr latinLnBrk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altLang="ko-KR" sz="2200" b="1" dirty="0">
              <a:latin typeface="+mj-lt"/>
              <a:ea typeface="+mj-ea"/>
              <a:cs typeface="+mj-cs"/>
            </a:endParaRPr>
          </a:p>
          <a:p>
            <a:pPr latinLnBrk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ko-KR" altLang="en-US" sz="2200" b="1" dirty="0">
                <a:latin typeface="+mj-lt"/>
                <a:ea typeface="+mj-ea"/>
                <a:cs typeface="+mj-cs"/>
              </a:rPr>
              <a:t>정보 취약 계층 맞춤형 병원정보 제공 웹 애플리케이션</a:t>
            </a:r>
          </a:p>
        </p:txBody>
      </p:sp>
      <p:sp>
        <p:nvSpPr>
          <p:cNvPr id="1033" name="Oval 1032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2965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1ABB6D7-AD12-75F8-5CB8-9F6B38A428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758" b="2993"/>
          <a:stretch>
            <a:fillRect/>
          </a:stretch>
        </p:blipFill>
        <p:spPr bwMode="auto">
          <a:xfrm>
            <a:off x="505418" y="554151"/>
            <a:ext cx="5742189" cy="5742189"/>
          </a:xfrm>
          <a:custGeom>
            <a:avLst/>
            <a:gdLst/>
            <a:ahLst/>
            <a:cxnLst/>
            <a:rect l="l" t="t" r="r" b="b"/>
            <a:pathLst>
              <a:path w="1838528" h="1838528">
                <a:moveTo>
                  <a:pt x="919264" y="0"/>
                </a:moveTo>
                <a:cubicBezTo>
                  <a:pt x="1426959" y="0"/>
                  <a:pt x="1838528" y="411569"/>
                  <a:pt x="1838528" y="919264"/>
                </a:cubicBezTo>
                <a:cubicBezTo>
                  <a:pt x="1838528" y="1426959"/>
                  <a:pt x="1426959" y="1838528"/>
                  <a:pt x="919264" y="1838528"/>
                </a:cubicBezTo>
                <a:cubicBezTo>
                  <a:pt x="411569" y="1838528"/>
                  <a:pt x="0" y="1426959"/>
                  <a:pt x="0" y="919264"/>
                </a:cubicBezTo>
                <a:cubicBezTo>
                  <a:pt x="0" y="411569"/>
                  <a:pt x="411569" y="0"/>
                  <a:pt x="91926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5" name="!!plus graphic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956" y="703679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1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37" name="!!circle graphic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753" y="1562696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1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782B297-5233-9B20-04CE-BF5FAF3FAE1F}"/>
              </a:ext>
            </a:extLst>
          </p:cNvPr>
          <p:cNvSpPr txBox="1"/>
          <p:nvPr/>
        </p:nvSpPr>
        <p:spPr>
          <a:xfrm>
            <a:off x="6657715" y="2990818"/>
            <a:ext cx="4195673" cy="29138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latinLnBrk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400">
                <a:solidFill>
                  <a:schemeClr val="tx1">
                    <a:alpha val="80000"/>
                  </a:schemeClr>
                </a:solidFill>
              </a:rPr>
              <a:t>고령화 사회에서 정보 취약 계층을 위한 맞춤형 병원정보 제공 서비스를 개발했습니다</a:t>
            </a:r>
            <a:r>
              <a:rPr lang="en-US" altLang="ko-KR" sz="1400">
                <a:solidFill>
                  <a:schemeClr val="tx1">
                    <a:alpha val="80000"/>
                  </a:schemeClr>
                </a:solidFill>
              </a:rPr>
              <a:t>. </a:t>
            </a:r>
            <a:r>
              <a:rPr lang="ko-KR" altLang="en-US" sz="1400">
                <a:solidFill>
                  <a:schemeClr val="tx1">
                    <a:alpha val="80000"/>
                  </a:schemeClr>
                </a:solidFill>
              </a:rPr>
              <a:t>우리 팀은 고령층이 디지털 기술 접근에 어려움을 겪는 현실에서</a:t>
            </a:r>
            <a:r>
              <a:rPr lang="en-US" altLang="ko-KR" sz="1400">
                <a:solidFill>
                  <a:schemeClr val="tx1">
                    <a:alpha val="80000"/>
                  </a:schemeClr>
                </a:solidFill>
              </a:rPr>
              <a:t>, </a:t>
            </a:r>
            <a:r>
              <a:rPr lang="ko-KR" altLang="en-US" sz="1400">
                <a:solidFill>
                  <a:schemeClr val="tx1">
                    <a:alpha val="80000"/>
                  </a:schemeClr>
                </a:solidFill>
              </a:rPr>
              <a:t>공공 데이터 기반의 신뢰성 높은 의료정보를 쉽고 빠르게 제공하는 웹 애플리케이션을 구현했습니다</a:t>
            </a:r>
            <a:r>
              <a:rPr lang="en-US" altLang="ko-KR" sz="1400">
                <a:solidFill>
                  <a:schemeClr val="tx1">
                    <a:alpha val="80000"/>
                  </a:schemeClr>
                </a:solidFill>
              </a:rPr>
              <a:t>.</a:t>
            </a:r>
          </a:p>
          <a:p>
            <a:pPr indent="-228600" latinLnBrk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ko-KR" sz="1400">
              <a:solidFill>
                <a:schemeClr val="tx1">
                  <a:alpha val="80000"/>
                </a:schemeClr>
              </a:solidFill>
            </a:endParaRPr>
          </a:p>
          <a:p>
            <a:pPr indent="-228600" latinLnBrk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400">
                <a:solidFill>
                  <a:schemeClr val="tx1">
                    <a:alpha val="80000"/>
                  </a:schemeClr>
                </a:solidFill>
              </a:rPr>
              <a:t>본 프로젝트는 직관적인 </a:t>
            </a:r>
            <a:r>
              <a:rPr lang="en-US" altLang="ko-KR" sz="1400">
                <a:solidFill>
                  <a:schemeClr val="tx1">
                    <a:alpha val="80000"/>
                  </a:schemeClr>
                </a:solidFill>
              </a:rPr>
              <a:t>UI/UX, </a:t>
            </a:r>
            <a:r>
              <a:rPr lang="ko-KR" altLang="en-US" sz="1400">
                <a:solidFill>
                  <a:schemeClr val="tx1">
                    <a:alpha val="80000"/>
                  </a:schemeClr>
                </a:solidFill>
              </a:rPr>
              <a:t>음성 안내 기능</a:t>
            </a:r>
            <a:r>
              <a:rPr lang="en-US" altLang="ko-KR" sz="1400">
                <a:solidFill>
                  <a:schemeClr val="tx1">
                    <a:alpha val="80000"/>
                  </a:schemeClr>
                </a:solidFill>
              </a:rPr>
              <a:t>, </a:t>
            </a:r>
            <a:r>
              <a:rPr lang="ko-KR" altLang="en-US" sz="1400">
                <a:solidFill>
                  <a:schemeClr val="tx1">
                    <a:alpha val="80000"/>
                  </a:schemeClr>
                </a:solidFill>
              </a:rPr>
              <a:t>위치 기반 자동 추천 등의 특장점을 통해 정보 취약 계층의 의료 정보 접근성을 높이고 건강한 일상생활을 지원하고자 합니다</a:t>
            </a:r>
            <a:r>
              <a:rPr lang="en-US" altLang="ko-KR" sz="1400">
                <a:solidFill>
                  <a:schemeClr val="tx1">
                    <a:alpha val="80000"/>
                  </a:schemeClr>
                </a:solidFill>
              </a:rPr>
              <a:t>.</a:t>
            </a:r>
            <a:endParaRPr lang="en-US" altLang="ko-KR" sz="1400" dirty="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1039" name="!!dot graphic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54149" y="5775082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041" name="!!Straight Connector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6262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98AD1-6C82-A73D-78F9-B9E7D66E7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1A058B88-FCE2-07B1-6436-BF5653999795}"/>
              </a:ext>
            </a:extLst>
          </p:cNvPr>
          <p:cNvSpPr/>
          <p:nvPr/>
        </p:nvSpPr>
        <p:spPr>
          <a:xfrm>
            <a:off x="3780138" y="521540"/>
            <a:ext cx="4631724" cy="6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ko-KR" altLang="en-US" sz="4400" dirty="0">
                <a:latin typeface="+mj-lt"/>
              </a:rPr>
              <a:t>프로젝트</a:t>
            </a:r>
            <a:r>
              <a:rPr lang="en-US" sz="4400" dirty="0">
                <a:latin typeface="+mj-lt"/>
              </a:rPr>
              <a:t> </a:t>
            </a:r>
            <a:r>
              <a:rPr lang="ko-KR" altLang="en-US" sz="4400" dirty="0">
                <a:latin typeface="+mj-lt"/>
              </a:rPr>
              <a:t>선정이유</a:t>
            </a:r>
            <a:endParaRPr lang="en-US" sz="4400" dirty="0">
              <a:latin typeface="+mj-lt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C19022CD-2F2D-C52D-2926-D01BCBF13FBE}"/>
              </a:ext>
            </a:extLst>
          </p:cNvPr>
          <p:cNvGrpSpPr/>
          <p:nvPr/>
        </p:nvGrpSpPr>
        <p:grpSpPr>
          <a:xfrm>
            <a:off x="1408126" y="1396222"/>
            <a:ext cx="9783889" cy="1778675"/>
            <a:chOff x="2059424" y="2496288"/>
            <a:chExt cx="4024313" cy="1778675"/>
          </a:xfrm>
        </p:grpSpPr>
        <p:sp>
          <p:nvSpPr>
            <p:cNvPr id="3" name="Text 1">
              <a:extLst>
                <a:ext uri="{FF2B5EF4-FFF2-40B4-BE49-F238E27FC236}">
                  <a16:creationId xmlns:a16="http://schemas.microsoft.com/office/drawing/2014/main" id="{AF6AA4D2-6434-463A-EDD3-3155F79EF9F3}"/>
                </a:ext>
              </a:extLst>
            </p:cNvPr>
            <p:cNvSpPr/>
            <p:nvPr/>
          </p:nvSpPr>
          <p:spPr>
            <a:xfrm>
              <a:off x="2059424" y="2496288"/>
              <a:ext cx="2480905" cy="3101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400"/>
                </a:lnSpc>
                <a:buNone/>
              </a:pPr>
              <a:r>
                <a:rPr lang="en-US" sz="1950" b="1" dirty="0">
                  <a:solidFill>
                    <a:srgbClr val="000000"/>
                  </a:solidFill>
                  <a:latin typeface="+mj-lt"/>
                  <a:ea typeface="Inter Bold" pitchFamily="34" charset="-122"/>
                  <a:cs typeface="Inter Bold" pitchFamily="34" charset="-120"/>
                </a:rPr>
                <a:t>고령화 사회의 도래</a:t>
              </a:r>
              <a:endParaRPr lang="en-US" sz="1950" dirty="0">
                <a:latin typeface="+mj-lt"/>
              </a:endParaRPr>
            </a:p>
          </p:txBody>
        </p:sp>
        <p:sp>
          <p:nvSpPr>
            <p:cNvPr id="4" name="Text 2">
              <a:extLst>
                <a:ext uri="{FF2B5EF4-FFF2-40B4-BE49-F238E27FC236}">
                  <a16:creationId xmlns:a16="http://schemas.microsoft.com/office/drawing/2014/main" id="{2AC36392-E200-02F4-39C4-6A348D0D4219}"/>
                </a:ext>
              </a:extLst>
            </p:cNvPr>
            <p:cNvSpPr/>
            <p:nvPr/>
          </p:nvSpPr>
          <p:spPr>
            <a:xfrm>
              <a:off x="2059424" y="3004804"/>
              <a:ext cx="4024313" cy="12701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2500"/>
                </a:lnSpc>
              </a:pPr>
              <a:r>
                <a:rPr lang="en-US" altLang="ko-KR" dirty="0"/>
                <a:t>"</a:t>
              </a:r>
              <a:r>
                <a:rPr lang="ko-KR" altLang="en-US" dirty="0"/>
                <a:t>고령층 비중이 빠르게 늘며 건강 관리와 의료 정보 수요도 함께 증가하고 있습니다</a:t>
              </a:r>
              <a:r>
                <a:rPr lang="en-US" altLang="ko-KR" dirty="0"/>
                <a:t>."</a:t>
              </a:r>
              <a:endParaRPr lang="en-US" dirty="0"/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F01E1A3D-D4D0-5A13-926C-0A410A8DE582}"/>
              </a:ext>
            </a:extLst>
          </p:cNvPr>
          <p:cNvGrpSpPr/>
          <p:nvPr/>
        </p:nvGrpSpPr>
        <p:grpSpPr>
          <a:xfrm>
            <a:off x="1408126" y="2523252"/>
            <a:ext cx="10230041" cy="866076"/>
            <a:chOff x="6863215" y="2547580"/>
            <a:chExt cx="4024313" cy="996295"/>
          </a:xfrm>
        </p:grpSpPr>
        <p:sp>
          <p:nvSpPr>
            <p:cNvPr id="5" name="Text 5">
              <a:extLst>
                <a:ext uri="{FF2B5EF4-FFF2-40B4-BE49-F238E27FC236}">
                  <a16:creationId xmlns:a16="http://schemas.microsoft.com/office/drawing/2014/main" id="{2715F32E-C1BD-E4A0-57DB-30DEE52B92DE}"/>
                </a:ext>
              </a:extLst>
            </p:cNvPr>
            <p:cNvSpPr/>
            <p:nvPr/>
          </p:nvSpPr>
          <p:spPr>
            <a:xfrm>
              <a:off x="6863215" y="2547580"/>
              <a:ext cx="2516624" cy="3101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400"/>
                </a:lnSpc>
                <a:buNone/>
              </a:pPr>
              <a:r>
                <a:rPr lang="en-US" sz="1950" b="1" dirty="0">
                  <a:solidFill>
                    <a:srgbClr val="000000"/>
                  </a:solidFill>
                  <a:latin typeface="+mj-lt"/>
                  <a:ea typeface="Inter Bold" pitchFamily="34" charset="-122"/>
                  <a:cs typeface="Inter Bold" pitchFamily="34" charset="-120"/>
                </a:rPr>
                <a:t>신뢰할 수 있는 정보 부족</a:t>
              </a:r>
              <a:endParaRPr lang="en-US" sz="1950" dirty="0">
                <a:latin typeface="+mj-lt"/>
              </a:endParaRPr>
            </a:p>
          </p:txBody>
        </p:sp>
        <p:sp>
          <p:nvSpPr>
            <p:cNvPr id="23" name="Text 6">
              <a:extLst>
                <a:ext uri="{FF2B5EF4-FFF2-40B4-BE49-F238E27FC236}">
                  <a16:creationId xmlns:a16="http://schemas.microsoft.com/office/drawing/2014/main" id="{231D654D-1D44-D2E8-FAEC-EC72986E2594}"/>
                </a:ext>
              </a:extLst>
            </p:cNvPr>
            <p:cNvSpPr/>
            <p:nvPr/>
          </p:nvSpPr>
          <p:spPr>
            <a:xfrm>
              <a:off x="6863215" y="3056097"/>
              <a:ext cx="4024313" cy="4877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2500"/>
                </a:lnSpc>
              </a:pPr>
              <a:r>
                <a:rPr lang="en-US" altLang="ko-KR" dirty="0"/>
                <a:t>"</a:t>
              </a:r>
              <a:r>
                <a:rPr lang="ko-KR" altLang="en-US" dirty="0"/>
                <a:t>정보 과잉 시대 속에서 고령층은 신뢰할 수 있는 의료 정보를 찾는 데 어려움을 겪고 있습니다</a:t>
              </a:r>
              <a:r>
                <a:rPr lang="en-US" altLang="ko-KR" dirty="0"/>
                <a:t>."</a:t>
              </a:r>
              <a:endParaRPr lang="en-US" dirty="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442BEE18-32E5-61F5-21E9-5A12852744A1}"/>
              </a:ext>
            </a:extLst>
          </p:cNvPr>
          <p:cNvSpPr txBox="1"/>
          <p:nvPr/>
        </p:nvSpPr>
        <p:spPr>
          <a:xfrm>
            <a:off x="1408126" y="4692660"/>
            <a:ext cx="892459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b="1" dirty="0"/>
              <a:t>디지털 정보 격차</a:t>
            </a:r>
            <a:endParaRPr lang="en-US" altLang="ko-KR" b="1" dirty="0"/>
          </a:p>
          <a:p>
            <a:endParaRPr lang="en-US" altLang="ko-KR" b="1" dirty="0"/>
          </a:p>
          <a:p>
            <a:r>
              <a:rPr lang="en-US" altLang="ko-KR" dirty="0"/>
              <a:t>"</a:t>
            </a:r>
            <a:r>
              <a:rPr lang="ko-KR" altLang="en-US" dirty="0"/>
              <a:t>고령층은 디지털 접근이 어려워 필요한 의료 정보를 적시에 얻기 힘든 상황입니다</a:t>
            </a:r>
            <a:r>
              <a:rPr lang="en-US" altLang="ko-KR" dirty="0"/>
              <a:t>."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C3D91CB0-F2D1-02CA-FB9D-D172F8DF3759}"/>
              </a:ext>
            </a:extLst>
          </p:cNvPr>
          <p:cNvGrpSpPr/>
          <p:nvPr/>
        </p:nvGrpSpPr>
        <p:grpSpPr>
          <a:xfrm>
            <a:off x="1408126" y="3561761"/>
            <a:ext cx="10882314" cy="932541"/>
            <a:chOff x="6863215" y="2547580"/>
            <a:chExt cx="4024313" cy="932541"/>
          </a:xfrm>
        </p:grpSpPr>
        <p:sp>
          <p:nvSpPr>
            <p:cNvPr id="15" name="Text 5">
              <a:extLst>
                <a:ext uri="{FF2B5EF4-FFF2-40B4-BE49-F238E27FC236}">
                  <a16:creationId xmlns:a16="http://schemas.microsoft.com/office/drawing/2014/main" id="{F84FD339-B167-1E64-B419-433E3EB94B6D}"/>
                </a:ext>
              </a:extLst>
            </p:cNvPr>
            <p:cNvSpPr/>
            <p:nvPr/>
          </p:nvSpPr>
          <p:spPr>
            <a:xfrm>
              <a:off x="6863215" y="2547580"/>
              <a:ext cx="2516624" cy="3101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2400"/>
                </a:lnSpc>
              </a:pPr>
              <a:r>
                <a:rPr lang="ko-KR" altLang="en-US" sz="1950" b="1" dirty="0"/>
                <a:t>맞춤형 정보 제공의 필요성</a:t>
              </a:r>
              <a:endParaRPr lang="en-US" sz="1950" b="1" dirty="0">
                <a:latin typeface="+mj-lt"/>
              </a:endParaRPr>
            </a:p>
          </p:txBody>
        </p:sp>
        <p:sp>
          <p:nvSpPr>
            <p:cNvPr id="16" name="Text 6">
              <a:extLst>
                <a:ext uri="{FF2B5EF4-FFF2-40B4-BE49-F238E27FC236}">
                  <a16:creationId xmlns:a16="http://schemas.microsoft.com/office/drawing/2014/main" id="{21248222-CD95-EF88-77E7-4BCF87501C3F}"/>
                </a:ext>
              </a:extLst>
            </p:cNvPr>
            <p:cNvSpPr/>
            <p:nvPr/>
          </p:nvSpPr>
          <p:spPr>
            <a:xfrm>
              <a:off x="6863215" y="3056096"/>
              <a:ext cx="4024313" cy="4240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2500"/>
                </a:lnSpc>
              </a:pPr>
              <a:r>
                <a:rPr lang="en-US" altLang="ko-KR" dirty="0"/>
                <a:t>"</a:t>
              </a:r>
              <a:r>
                <a:rPr lang="ko-KR" altLang="en-US" dirty="0"/>
                <a:t>고령층의 다양한 증상에 따라 진료과를 분류</a:t>
              </a:r>
              <a:r>
                <a:rPr lang="en-US" altLang="ko-KR" dirty="0"/>
                <a:t>·</a:t>
              </a:r>
              <a:r>
                <a:rPr lang="ko-KR" altLang="en-US" dirty="0"/>
                <a:t>추천해 실질적인 맞춤형 의료 정보를 제공합니다</a:t>
              </a:r>
              <a:r>
                <a:rPr lang="en-US" altLang="ko-KR" dirty="0"/>
                <a:t>."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338183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50EBBC-0477-A4FB-175E-C0FB00718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0985" y="345028"/>
            <a:ext cx="2950029" cy="1325563"/>
          </a:xfrm>
        </p:spPr>
        <p:txBody>
          <a:bodyPr/>
          <a:lstStyle/>
          <a:p>
            <a:r>
              <a:rPr lang="ko-KR" altLang="en-US" dirty="0"/>
              <a:t>개발 일정</a:t>
            </a:r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6F3CE74C-0871-ACD9-9781-704BF8011F62}"/>
              </a:ext>
            </a:extLst>
          </p:cNvPr>
          <p:cNvSpPr/>
          <p:nvPr/>
        </p:nvSpPr>
        <p:spPr>
          <a:xfrm>
            <a:off x="2610992" y="1454730"/>
            <a:ext cx="22860" cy="4733806"/>
          </a:xfrm>
          <a:prstGeom prst="roundRect">
            <a:avLst>
              <a:gd name="adj" fmla="val 1313584"/>
            </a:avLst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4CDEDA7F-E922-8A80-5A6A-797E6357A2C2}"/>
              </a:ext>
            </a:extLst>
          </p:cNvPr>
          <p:cNvSpPr/>
          <p:nvPr/>
        </p:nvSpPr>
        <p:spPr>
          <a:xfrm>
            <a:off x="2813338" y="1668447"/>
            <a:ext cx="600551" cy="22860"/>
          </a:xfrm>
          <a:prstGeom prst="roundRect">
            <a:avLst>
              <a:gd name="adj" fmla="val 1313584"/>
            </a:avLst>
          </a:prstGeom>
          <a:solidFill>
            <a:srgbClr val="2D4D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F9CAC13F-3AE9-F1C0-E979-F97D900FC9DE}"/>
              </a:ext>
            </a:extLst>
          </p:cNvPr>
          <p:cNvSpPr/>
          <p:nvPr/>
        </p:nvSpPr>
        <p:spPr>
          <a:xfrm>
            <a:off x="2385785" y="1454730"/>
            <a:ext cx="450413" cy="450413"/>
          </a:xfrm>
          <a:prstGeom prst="roundRect">
            <a:avLst>
              <a:gd name="adj" fmla="val 66669"/>
            </a:avLst>
          </a:prstGeom>
          <a:solidFill>
            <a:srgbClr val="F3F3FF"/>
          </a:solidFill>
          <a:ln w="22860">
            <a:solidFill>
              <a:srgbClr val="2D4D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00567B90-CF93-3C5A-E97B-E02649334C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9664" y="1503248"/>
            <a:ext cx="282535" cy="353258"/>
          </a:xfrm>
          <a:prstGeom prst="rect">
            <a:avLst/>
          </a:prstGeom>
        </p:spPr>
      </p:pic>
      <p:sp>
        <p:nvSpPr>
          <p:cNvPr id="9" name="Text 4">
            <a:extLst>
              <a:ext uri="{FF2B5EF4-FFF2-40B4-BE49-F238E27FC236}">
                <a16:creationId xmlns:a16="http://schemas.microsoft.com/office/drawing/2014/main" id="{D8C74227-DF56-8865-A50C-7A47E5149454}"/>
              </a:ext>
            </a:extLst>
          </p:cNvPr>
          <p:cNvSpPr/>
          <p:nvPr/>
        </p:nvSpPr>
        <p:spPr>
          <a:xfrm>
            <a:off x="3611950" y="1523429"/>
            <a:ext cx="2355175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1주차</a:t>
            </a:r>
            <a:endParaRPr lang="en-US" sz="185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BB012118-76CE-528E-1F95-839A4B205C1F}"/>
              </a:ext>
            </a:extLst>
          </p:cNvPr>
          <p:cNvSpPr/>
          <p:nvPr/>
        </p:nvSpPr>
        <p:spPr>
          <a:xfrm>
            <a:off x="3611950" y="1937766"/>
            <a:ext cx="6316504" cy="320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주제 선정을 위한 의견 공유</a:t>
            </a:r>
            <a:endParaRPr lang="en-US" sz="1550" dirty="0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E1B9195F-D455-B096-5C7C-574E3E61B3B7}"/>
              </a:ext>
            </a:extLst>
          </p:cNvPr>
          <p:cNvSpPr/>
          <p:nvPr/>
        </p:nvSpPr>
        <p:spPr>
          <a:xfrm>
            <a:off x="2813338" y="2871931"/>
            <a:ext cx="600551" cy="22860"/>
          </a:xfrm>
          <a:prstGeom prst="roundRect">
            <a:avLst>
              <a:gd name="adj" fmla="val 1313584"/>
            </a:avLst>
          </a:prstGeom>
          <a:solidFill>
            <a:srgbClr val="018CE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C307B2BF-3DC4-BCBD-C945-ADBDB197AA24}"/>
              </a:ext>
            </a:extLst>
          </p:cNvPr>
          <p:cNvSpPr/>
          <p:nvPr/>
        </p:nvSpPr>
        <p:spPr>
          <a:xfrm>
            <a:off x="2385785" y="2658213"/>
            <a:ext cx="450413" cy="450413"/>
          </a:xfrm>
          <a:prstGeom prst="roundRect">
            <a:avLst>
              <a:gd name="adj" fmla="val 66669"/>
            </a:avLst>
          </a:prstGeom>
          <a:solidFill>
            <a:srgbClr val="F3F3FF"/>
          </a:solidFill>
          <a:ln w="22860">
            <a:solidFill>
              <a:srgbClr val="018C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2" descr="preencoded.png">
            <a:extLst>
              <a:ext uri="{FF2B5EF4-FFF2-40B4-BE49-F238E27FC236}">
                <a16:creationId xmlns:a16="http://schemas.microsoft.com/office/drawing/2014/main" id="{32243B51-602A-FBFD-9B7D-4EE054050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9664" y="2706731"/>
            <a:ext cx="282535" cy="353258"/>
          </a:xfrm>
          <a:prstGeom prst="rect">
            <a:avLst/>
          </a:prstGeom>
        </p:spPr>
      </p:pic>
      <p:sp>
        <p:nvSpPr>
          <p:cNvPr id="14" name="Text 8">
            <a:extLst>
              <a:ext uri="{FF2B5EF4-FFF2-40B4-BE49-F238E27FC236}">
                <a16:creationId xmlns:a16="http://schemas.microsoft.com/office/drawing/2014/main" id="{551EEC1E-D9E2-5C65-2285-C674B779405D}"/>
              </a:ext>
            </a:extLst>
          </p:cNvPr>
          <p:cNvSpPr/>
          <p:nvPr/>
        </p:nvSpPr>
        <p:spPr>
          <a:xfrm>
            <a:off x="3611950" y="2726912"/>
            <a:ext cx="2355175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2주차</a:t>
            </a:r>
            <a:endParaRPr lang="en-US" sz="1850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08839C5B-B6AF-5407-6257-4D02C8B1B164}"/>
              </a:ext>
            </a:extLst>
          </p:cNvPr>
          <p:cNvSpPr/>
          <p:nvPr/>
        </p:nvSpPr>
        <p:spPr>
          <a:xfrm>
            <a:off x="3611950" y="3141250"/>
            <a:ext cx="6316504" cy="320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메인기능 선정, </a:t>
            </a:r>
            <a:r>
              <a:rPr lang="ko-KR" alt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시장</a:t>
            </a: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조사 및 사용자 분석</a:t>
            </a:r>
            <a:endParaRPr lang="en-US" sz="1550" dirty="0"/>
          </a:p>
        </p:txBody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8CF18E2D-D642-6271-C3E6-E68DAA44001F}"/>
              </a:ext>
            </a:extLst>
          </p:cNvPr>
          <p:cNvSpPr/>
          <p:nvPr/>
        </p:nvSpPr>
        <p:spPr>
          <a:xfrm>
            <a:off x="2813338" y="4075414"/>
            <a:ext cx="600551" cy="22860"/>
          </a:xfrm>
          <a:prstGeom prst="roundRect">
            <a:avLst>
              <a:gd name="adj" fmla="val 1313584"/>
            </a:avLst>
          </a:prstGeom>
          <a:solidFill>
            <a:srgbClr val="DA33B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1">
            <a:extLst>
              <a:ext uri="{FF2B5EF4-FFF2-40B4-BE49-F238E27FC236}">
                <a16:creationId xmlns:a16="http://schemas.microsoft.com/office/drawing/2014/main" id="{91616BC5-19C2-A38B-D05C-3C172D2C0FBA}"/>
              </a:ext>
            </a:extLst>
          </p:cNvPr>
          <p:cNvSpPr/>
          <p:nvPr/>
        </p:nvSpPr>
        <p:spPr>
          <a:xfrm>
            <a:off x="2385785" y="3861697"/>
            <a:ext cx="450413" cy="450413"/>
          </a:xfrm>
          <a:prstGeom prst="roundRect">
            <a:avLst>
              <a:gd name="adj" fmla="val 66669"/>
            </a:avLst>
          </a:prstGeom>
          <a:solidFill>
            <a:srgbClr val="F3F3FF"/>
          </a:solidFill>
          <a:ln w="22860">
            <a:solidFill>
              <a:srgbClr val="DA3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3" descr="preencoded.png">
            <a:extLst>
              <a:ext uri="{FF2B5EF4-FFF2-40B4-BE49-F238E27FC236}">
                <a16:creationId xmlns:a16="http://schemas.microsoft.com/office/drawing/2014/main" id="{94EA3968-8D8A-19D3-9C79-D9D65F48BB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9664" y="3910215"/>
            <a:ext cx="282535" cy="353258"/>
          </a:xfrm>
          <a:prstGeom prst="rect">
            <a:avLst/>
          </a:prstGeom>
        </p:spPr>
      </p:pic>
      <p:sp>
        <p:nvSpPr>
          <p:cNvPr id="19" name="Text 12">
            <a:extLst>
              <a:ext uri="{FF2B5EF4-FFF2-40B4-BE49-F238E27FC236}">
                <a16:creationId xmlns:a16="http://schemas.microsoft.com/office/drawing/2014/main" id="{A21614EB-7446-3029-993E-94FC36929D63}"/>
              </a:ext>
            </a:extLst>
          </p:cNvPr>
          <p:cNvSpPr/>
          <p:nvPr/>
        </p:nvSpPr>
        <p:spPr>
          <a:xfrm>
            <a:off x="3611950" y="3930396"/>
            <a:ext cx="2355175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3주차~8주차</a:t>
            </a:r>
            <a:endParaRPr lang="en-US" sz="1850" dirty="0"/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2F10220A-D717-2C0E-C55F-859C01ED2940}"/>
              </a:ext>
            </a:extLst>
          </p:cNvPr>
          <p:cNvSpPr/>
          <p:nvPr/>
        </p:nvSpPr>
        <p:spPr>
          <a:xfrm>
            <a:off x="3611950" y="4344734"/>
            <a:ext cx="6316504" cy="6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 err="1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개발환경</a:t>
            </a: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r>
              <a:rPr lang="ko-KR" alt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설정</a:t>
            </a: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및 역할 분담의 세분화 후 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각 역할 별 스터디를 진행하며 프로젝트 설계 진행</a:t>
            </a:r>
            <a:endParaRPr lang="en-US" sz="1550" dirty="0"/>
          </a:p>
        </p:txBody>
      </p:sp>
      <p:sp>
        <p:nvSpPr>
          <p:cNvPr id="21" name="Shape 14">
            <a:extLst>
              <a:ext uri="{FF2B5EF4-FFF2-40B4-BE49-F238E27FC236}">
                <a16:creationId xmlns:a16="http://schemas.microsoft.com/office/drawing/2014/main" id="{B8CD4DA7-C2E8-C366-924B-85EFAE4A64AB}"/>
              </a:ext>
            </a:extLst>
          </p:cNvPr>
          <p:cNvSpPr/>
          <p:nvPr/>
        </p:nvSpPr>
        <p:spPr>
          <a:xfrm>
            <a:off x="2813338" y="5599057"/>
            <a:ext cx="600551" cy="22860"/>
          </a:xfrm>
          <a:prstGeom prst="roundRect">
            <a:avLst>
              <a:gd name="adj" fmla="val 1313584"/>
            </a:avLst>
          </a:prstGeom>
          <a:solidFill>
            <a:srgbClr val="2D4D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5">
            <a:extLst>
              <a:ext uri="{FF2B5EF4-FFF2-40B4-BE49-F238E27FC236}">
                <a16:creationId xmlns:a16="http://schemas.microsoft.com/office/drawing/2014/main" id="{1DEF9C4C-6EAA-86E9-37B4-F5EE882610D3}"/>
              </a:ext>
            </a:extLst>
          </p:cNvPr>
          <p:cNvSpPr/>
          <p:nvPr/>
        </p:nvSpPr>
        <p:spPr>
          <a:xfrm>
            <a:off x="2385785" y="5385340"/>
            <a:ext cx="450413" cy="450413"/>
          </a:xfrm>
          <a:prstGeom prst="roundRect">
            <a:avLst>
              <a:gd name="adj" fmla="val 66669"/>
            </a:avLst>
          </a:prstGeom>
          <a:solidFill>
            <a:srgbClr val="F3F3FF"/>
          </a:solidFill>
          <a:ln w="22860">
            <a:solidFill>
              <a:srgbClr val="2D4D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4" descr="preencoded.png">
            <a:extLst>
              <a:ext uri="{FF2B5EF4-FFF2-40B4-BE49-F238E27FC236}">
                <a16:creationId xmlns:a16="http://schemas.microsoft.com/office/drawing/2014/main" id="{B0321285-0B88-0161-46F2-78AD2693B1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9664" y="5433858"/>
            <a:ext cx="282535" cy="353258"/>
          </a:xfrm>
          <a:prstGeom prst="rect">
            <a:avLst/>
          </a:prstGeom>
        </p:spPr>
      </p:pic>
      <p:sp>
        <p:nvSpPr>
          <p:cNvPr id="24" name="Text 16">
            <a:extLst>
              <a:ext uri="{FF2B5EF4-FFF2-40B4-BE49-F238E27FC236}">
                <a16:creationId xmlns:a16="http://schemas.microsoft.com/office/drawing/2014/main" id="{E87FDA3E-9A5B-62CA-3967-E088D75FAE71}"/>
              </a:ext>
            </a:extLst>
          </p:cNvPr>
          <p:cNvSpPr/>
          <p:nvPr/>
        </p:nvSpPr>
        <p:spPr>
          <a:xfrm>
            <a:off x="3611950" y="5454039"/>
            <a:ext cx="2355175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9주차~15주차</a:t>
            </a:r>
            <a:endParaRPr lang="en-US" sz="1850" dirty="0"/>
          </a:p>
        </p:txBody>
      </p:sp>
      <p:sp>
        <p:nvSpPr>
          <p:cNvPr id="25" name="Text 17">
            <a:extLst>
              <a:ext uri="{FF2B5EF4-FFF2-40B4-BE49-F238E27FC236}">
                <a16:creationId xmlns:a16="http://schemas.microsoft.com/office/drawing/2014/main" id="{1225F0FA-BB98-1AF7-7077-1C544CCD7614}"/>
              </a:ext>
            </a:extLst>
          </p:cNvPr>
          <p:cNvSpPr/>
          <p:nvPr/>
        </p:nvSpPr>
        <p:spPr>
          <a:xfrm>
            <a:off x="3611950" y="5868377"/>
            <a:ext cx="6316504" cy="320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프로젝트 구현(계획한 메인 및 세부 기능들과 그에 필요한 로직 등)</a:t>
            </a:r>
            <a:endParaRPr lang="en-US" sz="1550" dirty="0"/>
          </a:p>
        </p:txBody>
      </p:sp>
      <p:sp>
        <p:nvSpPr>
          <p:cNvPr id="26" name="Text 18">
            <a:extLst>
              <a:ext uri="{FF2B5EF4-FFF2-40B4-BE49-F238E27FC236}">
                <a16:creationId xmlns:a16="http://schemas.microsoft.com/office/drawing/2014/main" id="{94857795-3687-2021-3EAB-6476E379518C}"/>
              </a:ext>
            </a:extLst>
          </p:cNvPr>
          <p:cNvSpPr/>
          <p:nvPr/>
        </p:nvSpPr>
        <p:spPr>
          <a:xfrm>
            <a:off x="7402463" y="2079787"/>
            <a:ext cx="4143094" cy="2753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</p:txBody>
      </p:sp>
    </p:spTree>
    <p:extLst>
      <p:ext uri="{BB962C8B-B14F-4D97-AF65-F5344CB8AC3E}">
        <p14:creationId xmlns:p14="http://schemas.microsoft.com/office/powerpoint/2010/main" val="268553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2CD0E821-0B77-DEE4-268C-FAB6A2E0E432}"/>
              </a:ext>
            </a:extLst>
          </p:cNvPr>
          <p:cNvSpPr/>
          <p:nvPr/>
        </p:nvSpPr>
        <p:spPr>
          <a:xfrm>
            <a:off x="722590" y="563761"/>
            <a:ext cx="594338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서비스의 핵심 차별화 요소</a:t>
            </a:r>
            <a:endParaRPr lang="en-US" sz="3900" dirty="0"/>
          </a:p>
        </p:txBody>
      </p:sp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A919C00F-11BD-4166-BFEE-55EF265EF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590" y="1481495"/>
            <a:ext cx="496133" cy="496133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50D91412-EFD4-4CBA-1F7B-4D604A911192}"/>
              </a:ext>
            </a:extLst>
          </p:cNvPr>
          <p:cNvSpPr/>
          <p:nvPr/>
        </p:nvSpPr>
        <p:spPr>
          <a:xfrm>
            <a:off x="1466730" y="159924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직관적인 사용자 UI/UX</a:t>
            </a:r>
            <a:endParaRPr lang="en-US" sz="195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CD6A9A8E-CF3D-A1BC-B9BC-A705D20F9C0F}"/>
              </a:ext>
            </a:extLst>
          </p:cNvPr>
          <p:cNvSpPr/>
          <p:nvPr/>
        </p:nvSpPr>
        <p:spPr>
          <a:xfrm>
            <a:off x="1466730" y="2028468"/>
            <a:ext cx="681228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복잡한 절차 없이 진료과목, 위치 기반 병원 검색이 가능하도록 단순화된 구조를 제공합니다. 고령층이 쉽게 이용할 수 있는 큰 글씨와 명확한 버튼으로 설계했습니다.</a:t>
            </a:r>
            <a:endParaRPr lang="en-US" sz="1550" dirty="0"/>
          </a:p>
        </p:txBody>
      </p:sp>
      <p:pic>
        <p:nvPicPr>
          <p:cNvPr id="8" name="Image 2" descr="preencoded.png">
            <a:extLst>
              <a:ext uri="{FF2B5EF4-FFF2-40B4-BE49-F238E27FC236}">
                <a16:creationId xmlns:a16="http://schemas.microsoft.com/office/drawing/2014/main" id="{2342B59E-9B6F-F94F-84CF-020FA9B70B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590" y="3159681"/>
            <a:ext cx="496133" cy="496133"/>
          </a:xfrm>
          <a:prstGeom prst="rect">
            <a:avLst/>
          </a:prstGeom>
        </p:spPr>
      </p:pic>
      <p:sp>
        <p:nvSpPr>
          <p:cNvPr id="9" name="Text 3">
            <a:extLst>
              <a:ext uri="{FF2B5EF4-FFF2-40B4-BE49-F238E27FC236}">
                <a16:creationId xmlns:a16="http://schemas.microsoft.com/office/drawing/2014/main" id="{E8BDCC92-CAAF-4E3C-756F-582886DDA371}"/>
              </a:ext>
            </a:extLst>
          </p:cNvPr>
          <p:cNvSpPr/>
          <p:nvPr/>
        </p:nvSpPr>
        <p:spPr>
          <a:xfrm>
            <a:off x="1466730" y="327743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병원 음성 안내 기능</a:t>
            </a:r>
            <a:endParaRPr lang="en-US" sz="195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7DFCBB89-7529-B15E-5813-105DB7691795}"/>
              </a:ext>
            </a:extLst>
          </p:cNvPr>
          <p:cNvSpPr/>
          <p:nvPr/>
        </p:nvSpPr>
        <p:spPr>
          <a:xfrm>
            <a:off x="1466730" y="3706654"/>
            <a:ext cx="681228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시력이 약하거나 텍스트 정보 습득이 어려운 사용자를 위해 병원 정보를 음성으로 제공합니다. 주요 정보를 명확하게 들을 수 있어 접근성이 향상됩니다.</a:t>
            </a:r>
            <a:endParaRPr lang="en-US" sz="1550" dirty="0"/>
          </a:p>
        </p:txBody>
      </p:sp>
      <p:pic>
        <p:nvPicPr>
          <p:cNvPr id="11" name="Image 3" descr="preencoded.png">
            <a:extLst>
              <a:ext uri="{FF2B5EF4-FFF2-40B4-BE49-F238E27FC236}">
                <a16:creationId xmlns:a16="http://schemas.microsoft.com/office/drawing/2014/main" id="{B7463DE2-07D3-9333-D3A3-7F1898EA88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590" y="4837867"/>
            <a:ext cx="496133" cy="496133"/>
          </a:xfrm>
          <a:prstGeom prst="rect">
            <a:avLst/>
          </a:prstGeom>
        </p:spPr>
      </p:pic>
      <p:sp>
        <p:nvSpPr>
          <p:cNvPr id="12" name="Text 5">
            <a:extLst>
              <a:ext uri="{FF2B5EF4-FFF2-40B4-BE49-F238E27FC236}">
                <a16:creationId xmlns:a16="http://schemas.microsoft.com/office/drawing/2014/main" id="{162ADD8C-7E51-E329-A9DC-AE2A61D1E233}"/>
              </a:ext>
            </a:extLst>
          </p:cNvPr>
          <p:cNvSpPr/>
          <p:nvPr/>
        </p:nvSpPr>
        <p:spPr>
          <a:xfrm>
            <a:off x="1466730" y="495561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위치 기반 자동 추천</a:t>
            </a:r>
            <a:endParaRPr lang="en-US" sz="1950" dirty="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39C3C488-D191-9B56-F242-D8764022F26B}"/>
              </a:ext>
            </a:extLst>
          </p:cNvPr>
          <p:cNvSpPr/>
          <p:nvPr/>
        </p:nvSpPr>
        <p:spPr>
          <a:xfrm>
            <a:off x="1466730" y="5384840"/>
            <a:ext cx="681228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사용자의 현재 위치를 기반으로 가까운 병원을 자동으로 추천해 줍니다. 진료과목 필터를 통해 필요한 정보만 선별적으로 제공하여 정보 과부하를 방지합니다.</a:t>
            </a:r>
            <a:endParaRPr lang="en-US" sz="1550" dirty="0"/>
          </a:p>
        </p:txBody>
      </p:sp>
      <p:pic>
        <p:nvPicPr>
          <p:cNvPr id="15" name="그림 14" descr="스크린샷, 스마트폰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9C74A03-2257-CEED-A225-27BD5260A4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2014" y="0"/>
            <a:ext cx="31142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6069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295E8B-DA31-745F-102A-608C32950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7952" y="2766218"/>
            <a:ext cx="3816096" cy="1325563"/>
          </a:xfrm>
        </p:spPr>
        <p:txBody>
          <a:bodyPr/>
          <a:lstStyle/>
          <a:p>
            <a:r>
              <a:rPr lang="ko-KR" altLang="en-US" b="1" dirty="0"/>
              <a:t>프로젝트 설계</a:t>
            </a:r>
          </a:p>
        </p:txBody>
      </p:sp>
    </p:spTree>
    <p:extLst>
      <p:ext uri="{BB962C8B-B14F-4D97-AF65-F5344CB8AC3E}">
        <p14:creationId xmlns:p14="http://schemas.microsoft.com/office/powerpoint/2010/main" val="11720919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C3B03B8-0623-882E-2056-A67066764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  <a:prstGeom prst="ellipse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ko-KR" alt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프로젝트 아키텍쳐</a:t>
            </a:r>
            <a:r>
              <a:rPr lang="en-US" altLang="ko-KR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ko-KR" alt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설계</a:t>
            </a:r>
          </a:p>
        </p:txBody>
      </p:sp>
      <p:pic>
        <p:nvPicPr>
          <p:cNvPr id="5" name="그림 4" descr="텍스트, 도표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6DB7DF0-7C71-D162-7CDF-5EC3AA17B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8649" y="1845426"/>
            <a:ext cx="7911649" cy="4450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5421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텍스트, 스크린샷, 지도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BAC465C-5D40-86AD-A77F-5E690AE6B1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232957"/>
            <a:ext cx="5291666" cy="4392085"/>
          </a:xfrm>
          <a:prstGeom prst="rect">
            <a:avLst/>
          </a:prstGeom>
        </p:spPr>
      </p:pic>
      <p:pic>
        <p:nvPicPr>
          <p:cNvPr id="11" name="그림 10" descr="텍스트, 도표, 지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0205B5C-3228-71DA-8E13-7CB911688C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865" y="1232957"/>
            <a:ext cx="5291667" cy="4392086"/>
          </a:xfrm>
          <a:prstGeom prst="rect">
            <a:avLst/>
          </a:prstGeom>
        </p:spPr>
      </p:pic>
      <p:sp>
        <p:nvSpPr>
          <p:cNvPr id="16" name="제목 1">
            <a:extLst>
              <a:ext uri="{FF2B5EF4-FFF2-40B4-BE49-F238E27FC236}">
                <a16:creationId xmlns:a16="http://schemas.microsoft.com/office/drawing/2014/main" id="{8243DBE9-28F9-DC21-5AC0-9BF7A8A74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226" y="87389"/>
            <a:ext cx="3301814" cy="1325563"/>
          </a:xfrm>
        </p:spPr>
        <p:txBody>
          <a:bodyPr/>
          <a:lstStyle/>
          <a:p>
            <a:pPr algn="ctr"/>
            <a:r>
              <a:rPr lang="ko-KR" altLang="en-US" dirty="0"/>
              <a:t>스토리 보드</a:t>
            </a: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16FD55E1-EB68-26EF-CF12-94F0BF1AEEED}"/>
              </a:ext>
            </a:extLst>
          </p:cNvPr>
          <p:cNvCxnSpPr/>
          <p:nvPr/>
        </p:nvCxnSpPr>
        <p:spPr>
          <a:xfrm>
            <a:off x="5852160" y="4919472"/>
            <a:ext cx="40470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52834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C6E240-30C1-AB7C-BCAF-3E779D189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9312" y="310261"/>
            <a:ext cx="4913376" cy="1325563"/>
          </a:xfrm>
        </p:spPr>
        <p:txBody>
          <a:bodyPr/>
          <a:lstStyle/>
          <a:p>
            <a:r>
              <a:rPr lang="ko-KR" altLang="en-US" dirty="0"/>
              <a:t>데이터베이스 설계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5A50ADD5-9A3C-5688-8C9C-AB57752FC399}"/>
              </a:ext>
            </a:extLst>
          </p:cNvPr>
          <p:cNvSpPr/>
          <p:nvPr/>
        </p:nvSpPr>
        <p:spPr>
          <a:xfrm>
            <a:off x="1290982" y="232924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hospital_main</a:t>
            </a:r>
            <a:endParaRPr lang="en-US" sz="195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80C5818-944A-93E7-4EA4-175C4F9E9AAD}"/>
              </a:ext>
            </a:extLst>
          </p:cNvPr>
          <p:cNvSpPr/>
          <p:nvPr/>
        </p:nvSpPr>
        <p:spPr>
          <a:xfrm>
            <a:off x="-169319" y="2758465"/>
            <a:ext cx="394120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병원 기본 정보(코드, 이름, 주소, 좌표 등)</a:t>
            </a:r>
            <a:endParaRPr lang="en-US" sz="1550" dirty="0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FBEBE7C3-730B-A06B-6718-3B6B8F9E40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544" y="1635824"/>
            <a:ext cx="4564975" cy="4564975"/>
          </a:xfrm>
          <a:prstGeom prst="rect">
            <a:avLst/>
          </a:prstGeom>
        </p:spPr>
      </p:pic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7D0F3C92-E133-2FEB-EAD6-192877CF49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1517" y="2585288"/>
            <a:ext cx="296942" cy="371118"/>
          </a:xfrm>
          <a:prstGeom prst="rect">
            <a:avLst/>
          </a:prstGeom>
        </p:spPr>
      </p:pic>
      <p:sp>
        <p:nvSpPr>
          <p:cNvPr id="8" name="Text 3">
            <a:extLst>
              <a:ext uri="{FF2B5EF4-FFF2-40B4-BE49-F238E27FC236}">
                <a16:creationId xmlns:a16="http://schemas.microsoft.com/office/drawing/2014/main" id="{D6F89ADB-590B-8B0C-69F2-BFEA15EA0DD8}"/>
              </a:ext>
            </a:extLst>
          </p:cNvPr>
          <p:cNvSpPr/>
          <p:nvPr/>
        </p:nvSpPr>
        <p:spPr>
          <a:xfrm>
            <a:off x="8932175" y="192395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hospital_detail</a:t>
            </a:r>
            <a:endParaRPr lang="en-US" sz="195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43ABC6C6-0FBC-8931-FBF7-C43EFB325CB2}"/>
              </a:ext>
            </a:extLst>
          </p:cNvPr>
          <p:cNvSpPr/>
          <p:nvPr/>
        </p:nvSpPr>
        <p:spPr>
          <a:xfrm>
            <a:off x="8932175" y="2353176"/>
            <a:ext cx="394132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운영시간, 주차, 응급진료 정보</a:t>
            </a:r>
            <a:endParaRPr lang="en-US" sz="1550" dirty="0"/>
          </a:p>
        </p:txBody>
      </p:sp>
      <p:pic>
        <p:nvPicPr>
          <p:cNvPr id="10" name="Image 2" descr="preencoded.png">
            <a:extLst>
              <a:ext uri="{FF2B5EF4-FFF2-40B4-BE49-F238E27FC236}">
                <a16:creationId xmlns:a16="http://schemas.microsoft.com/office/drawing/2014/main" id="{F1E91114-4D60-0261-2BE0-375C5ED3F1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544" y="1635824"/>
            <a:ext cx="4564975" cy="4564975"/>
          </a:xfrm>
          <a:prstGeom prst="rect">
            <a:avLst/>
          </a:prstGeom>
        </p:spPr>
      </p:pic>
      <p:pic>
        <p:nvPicPr>
          <p:cNvPr id="11" name="Image 3" descr="preencoded.png">
            <a:extLst>
              <a:ext uri="{FF2B5EF4-FFF2-40B4-BE49-F238E27FC236}">
                <a16:creationId xmlns:a16="http://schemas.microsoft.com/office/drawing/2014/main" id="{7D215191-F7C0-EAC6-0233-67889ACE65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1035" y="2320612"/>
            <a:ext cx="296942" cy="371118"/>
          </a:xfrm>
          <a:prstGeom prst="rect">
            <a:avLst/>
          </a:prstGeom>
        </p:spPr>
      </p:pic>
      <p:sp>
        <p:nvSpPr>
          <p:cNvPr id="12" name="Text 5">
            <a:extLst>
              <a:ext uri="{FF2B5EF4-FFF2-40B4-BE49-F238E27FC236}">
                <a16:creationId xmlns:a16="http://schemas.microsoft.com/office/drawing/2014/main" id="{33548808-2E19-0DAB-0AD5-E417E2EBB104}"/>
              </a:ext>
            </a:extLst>
          </p:cNvPr>
          <p:cNvSpPr/>
          <p:nvPr/>
        </p:nvSpPr>
        <p:spPr>
          <a:xfrm>
            <a:off x="9031354" y="354487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medical_subject</a:t>
            </a:r>
            <a:endParaRPr lang="en-US" sz="1950" dirty="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35897EE9-3425-DFF7-0BEF-4F8081AE3204}"/>
              </a:ext>
            </a:extLst>
          </p:cNvPr>
          <p:cNvSpPr/>
          <p:nvPr/>
        </p:nvSpPr>
        <p:spPr>
          <a:xfrm>
            <a:off x="9031354" y="3974093"/>
            <a:ext cx="384214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병원별 진료과목 정보</a:t>
            </a:r>
            <a:endParaRPr lang="en-US" sz="1550" dirty="0"/>
          </a:p>
        </p:txBody>
      </p:sp>
      <p:pic>
        <p:nvPicPr>
          <p:cNvPr id="14" name="Image 4" descr="preencoded.png">
            <a:extLst>
              <a:ext uri="{FF2B5EF4-FFF2-40B4-BE49-F238E27FC236}">
                <a16:creationId xmlns:a16="http://schemas.microsoft.com/office/drawing/2014/main" id="{F2363299-73D0-4155-B431-E55C7D3753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9544" y="1635824"/>
            <a:ext cx="4564975" cy="4564975"/>
          </a:xfrm>
          <a:prstGeom prst="rect">
            <a:avLst/>
          </a:prstGeom>
        </p:spPr>
      </p:pic>
      <p:pic>
        <p:nvPicPr>
          <p:cNvPr id="15" name="Image 5" descr="preencoded.png">
            <a:extLst>
              <a:ext uri="{FF2B5EF4-FFF2-40B4-BE49-F238E27FC236}">
                <a16:creationId xmlns:a16="http://schemas.microsoft.com/office/drawing/2014/main" id="{48E2B8B4-5235-6BD6-10D5-0184317ACB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7448" y="4007371"/>
            <a:ext cx="296942" cy="371118"/>
          </a:xfrm>
          <a:prstGeom prst="rect">
            <a:avLst/>
          </a:prstGeom>
        </p:spPr>
      </p:pic>
      <p:sp>
        <p:nvSpPr>
          <p:cNvPr id="16" name="Text 7">
            <a:extLst>
              <a:ext uri="{FF2B5EF4-FFF2-40B4-BE49-F238E27FC236}">
                <a16:creationId xmlns:a16="http://schemas.microsoft.com/office/drawing/2014/main" id="{E6617622-CFE4-DF46-C830-871E020464E3}"/>
              </a:ext>
            </a:extLst>
          </p:cNvPr>
          <p:cNvSpPr/>
          <p:nvPr/>
        </p:nvSpPr>
        <p:spPr>
          <a:xfrm>
            <a:off x="8932175" y="516578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pro_doc</a:t>
            </a:r>
            <a:endParaRPr lang="en-US" sz="1950" dirty="0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77472B6F-3B3E-182B-1B03-ECAF434048AD}"/>
              </a:ext>
            </a:extLst>
          </p:cNvPr>
          <p:cNvSpPr/>
          <p:nvPr/>
        </p:nvSpPr>
        <p:spPr>
          <a:xfrm>
            <a:off x="8932175" y="5595010"/>
            <a:ext cx="394132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진료과목별 전문의 수 정보</a:t>
            </a:r>
            <a:endParaRPr lang="en-US" sz="1550" dirty="0"/>
          </a:p>
        </p:txBody>
      </p:sp>
      <p:pic>
        <p:nvPicPr>
          <p:cNvPr id="18" name="Image 6" descr="preencoded.png">
            <a:extLst>
              <a:ext uri="{FF2B5EF4-FFF2-40B4-BE49-F238E27FC236}">
                <a16:creationId xmlns:a16="http://schemas.microsoft.com/office/drawing/2014/main" id="{881C5815-595E-482A-2A2A-5944C1C1993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69544" y="1635824"/>
            <a:ext cx="4564975" cy="4564975"/>
          </a:xfrm>
          <a:prstGeom prst="rect">
            <a:avLst/>
          </a:prstGeom>
        </p:spPr>
      </p:pic>
      <p:pic>
        <p:nvPicPr>
          <p:cNvPr id="19" name="Image 7" descr="preencoded.png">
            <a:extLst>
              <a:ext uri="{FF2B5EF4-FFF2-40B4-BE49-F238E27FC236}">
                <a16:creationId xmlns:a16="http://schemas.microsoft.com/office/drawing/2014/main" id="{93E97F00-545F-CD5F-6116-1C5F423D177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28589" y="5314439"/>
            <a:ext cx="296942" cy="371118"/>
          </a:xfrm>
          <a:prstGeom prst="rect">
            <a:avLst/>
          </a:prstGeom>
        </p:spPr>
      </p:pic>
      <p:sp>
        <p:nvSpPr>
          <p:cNvPr id="20" name="Text 9">
            <a:extLst>
              <a:ext uri="{FF2B5EF4-FFF2-40B4-BE49-F238E27FC236}">
                <a16:creationId xmlns:a16="http://schemas.microsoft.com/office/drawing/2014/main" id="{BC5ED919-B2FD-A13C-7980-A9DC3FFE97CF}"/>
              </a:ext>
            </a:extLst>
          </p:cNvPr>
          <p:cNvSpPr/>
          <p:nvPr/>
        </p:nvSpPr>
        <p:spPr>
          <a:xfrm>
            <a:off x="1290982" y="476050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pharmacy</a:t>
            </a:r>
            <a:endParaRPr lang="en-US" sz="1950" dirty="0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45EB7AAC-FF60-D818-7A68-98401113F968}"/>
              </a:ext>
            </a:extLst>
          </p:cNvPr>
          <p:cNvSpPr/>
          <p:nvPr/>
        </p:nvSpPr>
        <p:spPr>
          <a:xfrm>
            <a:off x="-169319" y="5189721"/>
            <a:ext cx="394120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지역 내 약국 정보</a:t>
            </a:r>
            <a:endParaRPr lang="en-US" sz="1550" dirty="0"/>
          </a:p>
        </p:txBody>
      </p:sp>
      <p:pic>
        <p:nvPicPr>
          <p:cNvPr id="22" name="Image 8" descr="preencoded.png">
            <a:extLst>
              <a:ext uri="{FF2B5EF4-FFF2-40B4-BE49-F238E27FC236}">
                <a16:creationId xmlns:a16="http://schemas.microsoft.com/office/drawing/2014/main" id="{7176657B-2CFD-2FE9-F814-70167A765E7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69544" y="1635824"/>
            <a:ext cx="4564975" cy="4564975"/>
          </a:xfrm>
          <a:prstGeom prst="rect">
            <a:avLst/>
          </a:prstGeom>
        </p:spPr>
      </p:pic>
      <p:pic>
        <p:nvPicPr>
          <p:cNvPr id="23" name="Image 9" descr="preencoded.png">
            <a:extLst>
              <a:ext uri="{FF2B5EF4-FFF2-40B4-BE49-F238E27FC236}">
                <a16:creationId xmlns:a16="http://schemas.microsoft.com/office/drawing/2014/main" id="{8B691B1B-1F36-3E4F-ACB1-37E86BAC942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68619" y="4435639"/>
            <a:ext cx="296942" cy="371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190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125C69F-8D7A-7833-BEBA-4BAEDB317C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9935" y="1164674"/>
            <a:ext cx="6712129" cy="5571067"/>
          </a:xfrm>
          <a:prstGeom prst="rect">
            <a:avLst/>
          </a:prstGeom>
        </p:spPr>
      </p:pic>
      <p:sp>
        <p:nvSpPr>
          <p:cNvPr id="4" name="제목 1">
            <a:extLst>
              <a:ext uri="{FF2B5EF4-FFF2-40B4-BE49-F238E27FC236}">
                <a16:creationId xmlns:a16="http://schemas.microsoft.com/office/drawing/2014/main" id="{04B1BF57-ABD7-2B14-3198-31C54DFAF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9311" y="0"/>
            <a:ext cx="4913376" cy="1325563"/>
          </a:xfrm>
        </p:spPr>
        <p:txBody>
          <a:bodyPr/>
          <a:lstStyle/>
          <a:p>
            <a:r>
              <a:rPr lang="ko-KR" altLang="en-US" dirty="0"/>
              <a:t>데이터베이스 </a:t>
            </a:r>
            <a:r>
              <a:rPr lang="en-US" altLang="ko-KR" dirty="0"/>
              <a:t>ERD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33501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번호, 폰트, 영수증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52AECB4-5F7E-5660-FD15-BA13000281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792" y="1120945"/>
            <a:ext cx="4125809" cy="2057461"/>
          </a:xfrm>
          <a:prstGeom prst="rect">
            <a:avLst/>
          </a:prstGeom>
        </p:spPr>
      </p:pic>
      <p:pic>
        <p:nvPicPr>
          <p:cNvPr id="7" name="그림 6" descr="텍스트, 번호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9A2A591-02E3-9E60-D7C8-20B0B50307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176" y="4668371"/>
            <a:ext cx="4323201" cy="1619216"/>
          </a:xfrm>
          <a:prstGeom prst="rect">
            <a:avLst/>
          </a:prstGeom>
        </p:spPr>
      </p:pic>
      <p:pic>
        <p:nvPicPr>
          <p:cNvPr id="9" name="그림 8" descr="텍스트, 폰트, 번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7D16712-D84C-CF4B-0E98-A76AC8E30E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5708" y="1052564"/>
            <a:ext cx="4394049" cy="1312856"/>
          </a:xfrm>
          <a:prstGeom prst="rect">
            <a:avLst/>
          </a:prstGeom>
        </p:spPr>
      </p:pic>
      <p:pic>
        <p:nvPicPr>
          <p:cNvPr id="11" name="그림 10" descr="텍스트, 폰트, 번호, 영수증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5A1692B-A9CF-B269-1644-933C30CC49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792" y="3288959"/>
            <a:ext cx="4241968" cy="1450513"/>
          </a:xfrm>
          <a:prstGeom prst="rect">
            <a:avLst/>
          </a:prstGeom>
        </p:spPr>
      </p:pic>
      <p:pic>
        <p:nvPicPr>
          <p:cNvPr id="13" name="그림 12" descr="텍스트, 번호, 문서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547223F-F467-8FF1-43CB-D3E9E3030B1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5164" y="2380386"/>
            <a:ext cx="4380642" cy="422439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BA320DD-13F4-0B6D-B646-41B0FEE86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8476" y="-130303"/>
            <a:ext cx="4913376" cy="1325563"/>
          </a:xfrm>
        </p:spPr>
        <p:txBody>
          <a:bodyPr/>
          <a:lstStyle/>
          <a:p>
            <a:r>
              <a:rPr lang="ko-KR" altLang="en-US" dirty="0"/>
              <a:t>테이블 명세서</a:t>
            </a:r>
          </a:p>
        </p:txBody>
      </p:sp>
    </p:spTree>
    <p:extLst>
      <p:ext uri="{BB962C8B-B14F-4D97-AF65-F5344CB8AC3E}">
        <p14:creationId xmlns:p14="http://schemas.microsoft.com/office/powerpoint/2010/main" val="32672105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F074BB-1227-55C7-C1E0-61F222C65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7368" y="2766218"/>
            <a:ext cx="4017264" cy="1325563"/>
          </a:xfrm>
        </p:spPr>
        <p:txBody>
          <a:bodyPr/>
          <a:lstStyle/>
          <a:p>
            <a:r>
              <a:rPr lang="ko-KR" altLang="en-US" b="1" dirty="0"/>
              <a:t>프로젝트 구현</a:t>
            </a:r>
          </a:p>
        </p:txBody>
      </p:sp>
    </p:spTree>
    <p:extLst>
      <p:ext uri="{BB962C8B-B14F-4D97-AF65-F5344CB8AC3E}">
        <p14:creationId xmlns:p14="http://schemas.microsoft.com/office/powerpoint/2010/main" val="3539789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D620ED9-BA17-F836-CD40-261FEA54BAC8}"/>
              </a:ext>
            </a:extLst>
          </p:cNvPr>
          <p:cNvSpPr txBox="1"/>
          <p:nvPr/>
        </p:nvSpPr>
        <p:spPr>
          <a:xfrm>
            <a:off x="4112123" y="467601"/>
            <a:ext cx="396775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400" dirty="0"/>
              <a:t>개발 환경 구성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5C1E45-0FCF-430F-0C6E-56A48DA28F6B}"/>
              </a:ext>
            </a:extLst>
          </p:cNvPr>
          <p:cNvSpPr txBox="1"/>
          <p:nvPr/>
        </p:nvSpPr>
        <p:spPr>
          <a:xfrm flipH="1">
            <a:off x="774589" y="1387136"/>
            <a:ext cx="2154141" cy="49208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300000"/>
              </a:lnSpc>
            </a:pPr>
            <a:r>
              <a:rPr lang="en-US" altLang="ko-KR" dirty="0"/>
              <a:t>Frontend</a:t>
            </a:r>
          </a:p>
          <a:p>
            <a:pPr>
              <a:lnSpc>
                <a:spcPct val="300000"/>
              </a:lnSpc>
            </a:pPr>
            <a:r>
              <a:rPr lang="en-US" altLang="ko-KR" dirty="0"/>
              <a:t>Backend</a:t>
            </a:r>
          </a:p>
          <a:p>
            <a:pPr>
              <a:lnSpc>
                <a:spcPct val="300000"/>
              </a:lnSpc>
            </a:pPr>
            <a:r>
              <a:rPr lang="en-US" altLang="ko-KR" dirty="0"/>
              <a:t>DB</a:t>
            </a:r>
          </a:p>
          <a:p>
            <a:pPr>
              <a:lnSpc>
                <a:spcPct val="300000"/>
              </a:lnSpc>
            </a:pPr>
            <a:r>
              <a:rPr lang="en-US" altLang="ko-KR" dirty="0"/>
              <a:t>CI/CD</a:t>
            </a:r>
          </a:p>
          <a:p>
            <a:pPr>
              <a:lnSpc>
                <a:spcPct val="300000"/>
              </a:lnSpc>
            </a:pPr>
            <a:r>
              <a:rPr lang="en-US" altLang="ko-KR" dirty="0"/>
              <a:t>API</a:t>
            </a:r>
          </a:p>
          <a:p>
            <a:pPr>
              <a:lnSpc>
                <a:spcPct val="300000"/>
              </a:lnSpc>
            </a:pPr>
            <a:r>
              <a:rPr lang="ko-KR" altLang="en-US" dirty="0"/>
              <a:t>협업도구</a:t>
            </a:r>
          </a:p>
        </p:txBody>
      </p:sp>
      <p:pic>
        <p:nvPicPr>
          <p:cNvPr id="1026" name="Picture 2" descr="Official MariaDB Logos | MariaDB">
            <a:extLst>
              <a:ext uri="{FF2B5EF4-FFF2-40B4-BE49-F238E27FC236}">
                <a16:creationId xmlns:a16="http://schemas.microsoft.com/office/drawing/2014/main" id="{4F93F000-5F35-FCD3-3B79-CDC5DDE8BC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4591" y="3308097"/>
            <a:ext cx="648278" cy="528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90FF7FE-9F1F-204D-0534-441C3B1E2E94}"/>
              </a:ext>
            </a:extLst>
          </p:cNvPr>
          <p:cNvCxnSpPr>
            <a:cxnSpLocks/>
          </p:cNvCxnSpPr>
          <p:nvPr/>
        </p:nvCxnSpPr>
        <p:spPr>
          <a:xfrm>
            <a:off x="2153478" y="1716157"/>
            <a:ext cx="0" cy="48900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8" name="Picture 4">
            <a:extLst>
              <a:ext uri="{FF2B5EF4-FFF2-40B4-BE49-F238E27FC236}">
                <a16:creationId xmlns:a16="http://schemas.microsoft.com/office/drawing/2014/main" id="{EDA656F8-26A6-BAE1-18B7-7BA4CB1F1D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1492" y="2632596"/>
            <a:ext cx="1278565" cy="328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Vue.js">
            <a:extLst>
              <a:ext uri="{FF2B5EF4-FFF2-40B4-BE49-F238E27FC236}">
                <a16:creationId xmlns:a16="http://schemas.microsoft.com/office/drawing/2014/main" id="{E006A219-266A-4ED3-B261-33F79E193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1803" y="1763497"/>
            <a:ext cx="522229" cy="522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GitHub - dbeaver/dbeaver: Free universal database tool and ...">
            <a:extLst>
              <a:ext uri="{FF2B5EF4-FFF2-40B4-BE49-F238E27FC236}">
                <a16:creationId xmlns:a16="http://schemas.microsoft.com/office/drawing/2014/main" id="{06F81EDB-34EA-846E-B2D5-BE37392CCF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8683" y="3208098"/>
            <a:ext cx="1377351" cy="688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DAE67735-5851-2856-5EEF-2E494DC7C9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1848" y="3208098"/>
            <a:ext cx="768407" cy="768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Java 아이콘, 로고, 기호 – PNG, SVG 무료 다운로드">
            <a:extLst>
              <a:ext uri="{FF2B5EF4-FFF2-40B4-BE49-F238E27FC236}">
                <a16:creationId xmlns:a16="http://schemas.microsoft.com/office/drawing/2014/main" id="{77574D4A-1496-099D-7741-6DF9D9F22E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9081" y="2400321"/>
            <a:ext cx="704850" cy="704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F3888B84-553F-B971-2E97-01207D9F97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3616" y="2600616"/>
            <a:ext cx="1668637" cy="422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>
            <a:extLst>
              <a:ext uri="{FF2B5EF4-FFF2-40B4-BE49-F238E27FC236}">
                <a16:creationId xmlns:a16="http://schemas.microsoft.com/office/drawing/2014/main" id="{AC8E81CB-8EAF-11F7-3C48-9C9E1B234A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1492" y="1716157"/>
            <a:ext cx="512298" cy="51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 descr="Eclipse Logo png transparent">
            <a:extLst>
              <a:ext uri="{FF2B5EF4-FFF2-40B4-BE49-F238E27FC236}">
                <a16:creationId xmlns:a16="http://schemas.microsoft.com/office/drawing/2014/main" id="{D73C54BA-F126-C971-4BEC-D180F1EB39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1938" y="2555654"/>
            <a:ext cx="546451" cy="51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6" name="Picture 32" descr="모듈 | Vuex 러닝 가이드북">
            <a:extLst>
              <a:ext uri="{FF2B5EF4-FFF2-40B4-BE49-F238E27FC236}">
                <a16:creationId xmlns:a16="http://schemas.microsoft.com/office/drawing/2014/main" id="{82F93DCE-CF78-B6B7-7173-CE17F90B25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2045" y="1716157"/>
            <a:ext cx="572848" cy="572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0" name="Picture 36">
            <a:extLst>
              <a:ext uri="{FF2B5EF4-FFF2-40B4-BE49-F238E27FC236}">
                <a16:creationId xmlns:a16="http://schemas.microsoft.com/office/drawing/2014/main" id="{DBAED2B5-B0CA-4EB0-D53A-709D44E706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2906" y="1793232"/>
            <a:ext cx="2683412" cy="392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 descr="font awesome&quot; Icon - Download for free – Iconduck">
            <a:extLst>
              <a:ext uri="{FF2B5EF4-FFF2-40B4-BE49-F238E27FC236}">
                <a16:creationId xmlns:a16="http://schemas.microsoft.com/office/drawing/2014/main" id="{09611F4C-485D-AF68-6510-C0939B7481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4331" y="1685882"/>
            <a:ext cx="572847" cy="572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8" name="Picture 44" descr="Hibernate&quot; Icon - Download for free – Iconduck">
            <a:extLst>
              <a:ext uri="{FF2B5EF4-FFF2-40B4-BE49-F238E27FC236}">
                <a16:creationId xmlns:a16="http://schemas.microsoft.com/office/drawing/2014/main" id="{69126963-20B9-95A3-813F-33C0F0C268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7709" y="2495796"/>
            <a:ext cx="603288" cy="630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0" name="Picture 46" descr="Docker 아이콘, 로고, 기호 – PNG, SVG 무료 다운로드">
            <a:extLst>
              <a:ext uri="{FF2B5EF4-FFF2-40B4-BE49-F238E27FC236}">
                <a16:creationId xmlns:a16="http://schemas.microsoft.com/office/drawing/2014/main" id="{29841A55-2B47-083B-495B-23004C7B39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3054" y="4085564"/>
            <a:ext cx="703868" cy="703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2" name="Picture 48" descr="GitHub Actions - Visual Studio Marketplace">
            <a:extLst>
              <a:ext uri="{FF2B5EF4-FFF2-40B4-BE49-F238E27FC236}">
                <a16:creationId xmlns:a16="http://schemas.microsoft.com/office/drawing/2014/main" id="{49A69E20-6CF0-503D-983A-134A450474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8000" b="94417" l="8583" r="94000">
                        <a14:foregroundMark x1="38167" y1="24333" x2="26000" y2="24583"/>
                        <a14:foregroundMark x1="30833" y1="19417" x2="91167" y2="54750"/>
                        <a14:foregroundMark x1="91167" y1="54750" x2="14000" y2="29500"/>
                        <a14:foregroundMark x1="14000" y1="29500" x2="45917" y2="83417"/>
                        <a14:foregroundMark x1="45917" y1="83417" x2="67667" y2="83000"/>
                        <a14:foregroundMark x1="90000" y1="86833" x2="65083" y2="90833"/>
                        <a14:foregroundMark x1="55333" y1="90083" x2="51917" y2="94417"/>
                        <a14:foregroundMark x1="92500" y1="79417" x2="94000" y2="88167"/>
                        <a14:foregroundMark x1="28917" y1="12417" x2="26750" y2="9583"/>
                        <a14:foregroundMark x1="27750" y1="8000" x2="16500" y2="10167"/>
                        <a14:foregroundMark x1="8583" y1="24583" x2="8583" y2="24583"/>
                        <a14:foregroundMark x1="49583" y1="52000" x2="49583" y2="52000"/>
                        <a14:foregroundMark x1="52500" y1="81333" x2="52500" y2="81333"/>
                        <a14:foregroundMark x1="50583" y1="78083" x2="52667" y2="86583"/>
                        <a14:foregroundMark x1="66583" y1="81667" x2="66583" y2="82417"/>
                        <a14:foregroundMark x1="68333" y1="71917" x2="67000" y2="79750"/>
                        <a14:foregroundMark x1="70750" y1="76333" x2="69083" y2="79750"/>
                        <a14:foregroundMark x1="71667" y1="73500" x2="77833" y2="70417"/>
                        <a14:foregroundMark x1="83667" y1="70833" x2="88250" y2="74250"/>
                        <a14:backgroundMark x1="81083" y1="78250" x2="81250" y2="79167"/>
                        <a14:backgroundMark x1="80833" y1="78250" x2="78750" y2="80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1333" y="4085565"/>
            <a:ext cx="703867" cy="703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4" name="Picture 50" descr="시리즈 | AWS - cosmoss.log">
            <a:extLst>
              <a:ext uri="{FF2B5EF4-FFF2-40B4-BE49-F238E27FC236}">
                <a16:creationId xmlns:a16="http://schemas.microsoft.com/office/drawing/2014/main" id="{C44AD561-D2C4-49BA-E42C-2015B6EFA3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6051" y="4081874"/>
            <a:ext cx="1136286" cy="639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6" name="Picture 52" descr="Packy] Docker Compose로 로컬 DB 개발환경 구축하기 - MySQL, Redis — 짱정연의 짱개발자 도전기">
            <a:extLst>
              <a:ext uri="{FF2B5EF4-FFF2-40B4-BE49-F238E27FC236}">
                <a16:creationId xmlns:a16="http://schemas.microsoft.com/office/drawing/2014/main" id="{F41E7351-6B08-1378-9A7F-6B3C66F745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ackgroundRemoval t="3835" b="96313" l="9968" r="90514">
                        <a14:foregroundMark x1="45820" y1="52655" x2="44695" y2="52360"/>
                        <a14:foregroundMark x1="45338" y1="50590" x2="42283" y2="50442"/>
                        <a14:foregroundMark x1="42605" y1="49705" x2="46945" y2="53097"/>
                        <a14:foregroundMark x1="12219" y1="47640" x2="10289" y2="44985"/>
                        <a14:foregroundMark x1="57395" y1="87463" x2="60129" y2="92478"/>
                        <a14:foregroundMark x1="56431" y1="89381" x2="59968" y2="92773"/>
                        <a14:foregroundMark x1="57556" y1="89381" x2="63023" y2="92773"/>
                        <a14:foregroundMark x1="61897" y1="93068" x2="62862" y2="95133"/>
                        <a14:foregroundMark x1="61254" y1="95870" x2="61254" y2="96460"/>
                        <a14:foregroundMark x1="90514" y1="62094" x2="90836" y2="61947"/>
                        <a14:foregroundMark x1="90836" y1="61947" x2="90514" y2="67109"/>
                        <a14:foregroundMark x1="68328" y1="10324" x2="68328" y2="10324"/>
                        <a14:foregroundMark x1="70740" y1="7227" x2="70740" y2="7227"/>
                        <a14:foregroundMark x1="78135" y1="3835" x2="78135" y2="3835"/>
                        <a14:foregroundMark x1="42283" y1="53835" x2="43248" y2="53392"/>
                        <a14:foregroundMark x1="43569" y1="53835" x2="45177" y2="58702"/>
                        <a14:foregroundMark x1="52572" y1="53392" x2="53215" y2="54130"/>
                        <a14:foregroundMark x1="52572" y1="52360" x2="52090" y2="5368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4776" y="3942900"/>
            <a:ext cx="875374" cy="954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8" name="Picture 54" descr="카카오맵 | Kakao Developers 도구">
            <a:extLst>
              <a:ext uri="{FF2B5EF4-FFF2-40B4-BE49-F238E27FC236}">
                <a16:creationId xmlns:a16="http://schemas.microsoft.com/office/drawing/2014/main" id="{A7CB9442-D8E0-669A-C9A3-CA372B77B7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1908" y="5037915"/>
            <a:ext cx="563358" cy="563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0" name="Picture 56" descr="공공데이터공개 &lt; 정보공개 &lt; 경기여성가족재단">
            <a:extLst>
              <a:ext uri="{FF2B5EF4-FFF2-40B4-BE49-F238E27FC236}">
                <a16:creationId xmlns:a16="http://schemas.microsoft.com/office/drawing/2014/main" id="{AC30F00F-157B-5643-33F7-4AA595A2C8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69" t="25108" r="21854" b="19434"/>
          <a:stretch>
            <a:fillRect/>
          </a:stretch>
        </p:blipFill>
        <p:spPr bwMode="auto">
          <a:xfrm>
            <a:off x="3490535" y="5000013"/>
            <a:ext cx="1981605" cy="639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 descr="Download Google Cloud Platform (GCP) Logo in SVG Vector or PNG File Format  - Logo.wine">
            <a:extLst>
              <a:ext uri="{FF2B5EF4-FFF2-40B4-BE49-F238E27FC236}">
                <a16:creationId xmlns:a16="http://schemas.microsoft.com/office/drawing/2014/main" id="{AEB99BC5-520C-9792-1FBE-8EB3C56956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75" t="38631" r="10696" b="39015"/>
          <a:stretch>
            <a:fillRect/>
          </a:stretch>
        </p:blipFill>
        <p:spPr bwMode="auto">
          <a:xfrm>
            <a:off x="5717409" y="4999342"/>
            <a:ext cx="2643808" cy="507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4" name="Picture 60" descr="GitHub Logo, symbol, meaning, history, PNG, brand">
            <a:extLst>
              <a:ext uri="{FF2B5EF4-FFF2-40B4-BE49-F238E27FC236}">
                <a16:creationId xmlns:a16="http://schemas.microsoft.com/office/drawing/2014/main" id="{443C5932-878C-BF5D-A7AE-49A6F7EB2F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5123" y="5842309"/>
            <a:ext cx="1136286" cy="639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 descr="discord logo png, discord icon transparent png 18930718 PNG">
            <a:extLst>
              <a:ext uri="{FF2B5EF4-FFF2-40B4-BE49-F238E27FC236}">
                <a16:creationId xmlns:a16="http://schemas.microsoft.com/office/drawing/2014/main" id="{3CDED6FA-7CBA-BD88-500C-3AE86C5BF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1409" y="5597424"/>
            <a:ext cx="1008245" cy="1008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8" name="Picture 64">
            <a:extLst>
              <a:ext uri="{FF2B5EF4-FFF2-40B4-BE49-F238E27FC236}">
                <a16:creationId xmlns:a16="http://schemas.microsoft.com/office/drawing/2014/main" id="{B05F4A70-1650-920C-7429-EC173C2DD7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4940" y="1661757"/>
            <a:ext cx="2071803" cy="623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90" name="Picture 66" descr="JPA] PostgreSQL jsonb 타입 설정하기">
            <a:extLst>
              <a:ext uri="{FF2B5EF4-FFF2-40B4-BE49-F238E27FC236}">
                <a16:creationId xmlns:a16="http://schemas.microsoft.com/office/drawing/2014/main" id="{B48F48EA-1343-F46A-A6B9-1D5D697E80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>
            <a:extLst>
              <a:ext uri="{BEBA8EAE-BF5A-486C-A8C5-ECC9F3942E4B}">
                <a14:imgProps xmlns:a14="http://schemas.microsoft.com/office/drawing/2010/main">
                  <a14:imgLayer r:embed="rId28">
                    <a14:imgEffect>
                      <a14:backgroundRemoval t="10000" b="90000" l="10000" r="90000">
                        <a14:foregroundMark x1="54275" y1="28231" x2="46468" y2="20408"/>
                        <a14:foregroundMark x1="59108" y1="80612" x2="36431" y2="7891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4032" y="2495796"/>
            <a:ext cx="565364" cy="617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92" name="Picture 68">
            <a:extLst>
              <a:ext uri="{FF2B5EF4-FFF2-40B4-BE49-F238E27FC236}">
                <a16:creationId xmlns:a16="http://schemas.microsoft.com/office/drawing/2014/main" id="{E4CD6D83-8DD6-48B9-D798-5DE6E33849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4657" y="2352260"/>
            <a:ext cx="1107326" cy="789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50028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96D60-18D7-62FA-0547-D5446356A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89D43708-50B4-262A-53B7-2124B3AFB3D7}"/>
              </a:ext>
            </a:extLst>
          </p:cNvPr>
          <p:cNvSpPr/>
          <p:nvPr/>
        </p:nvSpPr>
        <p:spPr>
          <a:xfrm>
            <a:off x="3780138" y="521540"/>
            <a:ext cx="4631724" cy="6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ko-KR" altLang="en-US" sz="4400" dirty="0">
                <a:latin typeface="+mj-lt"/>
              </a:rPr>
              <a:t>프로젝트</a:t>
            </a:r>
            <a:r>
              <a:rPr lang="en-US" sz="4400" dirty="0">
                <a:latin typeface="+mj-lt"/>
              </a:rPr>
              <a:t> </a:t>
            </a:r>
            <a:r>
              <a:rPr lang="ko-KR" altLang="en-US" sz="4400" dirty="0">
                <a:latin typeface="+mj-lt"/>
              </a:rPr>
              <a:t>구현기능</a:t>
            </a:r>
            <a:endParaRPr lang="en-US" sz="4400" dirty="0">
              <a:latin typeface="+mj-lt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BD2B6E86-3A99-BBFE-D921-D45E83A9E2A2}"/>
              </a:ext>
            </a:extLst>
          </p:cNvPr>
          <p:cNvGrpSpPr/>
          <p:nvPr/>
        </p:nvGrpSpPr>
        <p:grpSpPr>
          <a:xfrm>
            <a:off x="1408126" y="1396222"/>
            <a:ext cx="10230040" cy="1778675"/>
            <a:chOff x="2059424" y="2496288"/>
            <a:chExt cx="4207824" cy="1778675"/>
          </a:xfrm>
        </p:grpSpPr>
        <p:sp>
          <p:nvSpPr>
            <p:cNvPr id="3" name="Text 1">
              <a:extLst>
                <a:ext uri="{FF2B5EF4-FFF2-40B4-BE49-F238E27FC236}">
                  <a16:creationId xmlns:a16="http://schemas.microsoft.com/office/drawing/2014/main" id="{45BE59F6-869D-2A29-B8D5-D729C2B9CAF8}"/>
                </a:ext>
              </a:extLst>
            </p:cNvPr>
            <p:cNvSpPr/>
            <p:nvPr/>
          </p:nvSpPr>
          <p:spPr>
            <a:xfrm>
              <a:off x="2059424" y="2496288"/>
              <a:ext cx="2480905" cy="3101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400"/>
                </a:lnSpc>
                <a:buNone/>
              </a:pPr>
              <a:r>
                <a:rPr lang="ko-KR" altLang="en-US" sz="1950" b="1" dirty="0">
                  <a:solidFill>
                    <a:srgbClr val="000000"/>
                  </a:solidFill>
                  <a:latin typeface="+mj-lt"/>
                  <a:ea typeface="Inter Bold" pitchFamily="34" charset="-122"/>
                  <a:cs typeface="Inter Bold" pitchFamily="34" charset="-120"/>
                </a:rPr>
                <a:t>메인 화면</a:t>
              </a:r>
              <a:endParaRPr lang="en-US" sz="1950" dirty="0">
                <a:latin typeface="+mj-lt"/>
              </a:endParaRPr>
            </a:p>
          </p:txBody>
        </p:sp>
        <p:sp>
          <p:nvSpPr>
            <p:cNvPr id="4" name="Text 2">
              <a:extLst>
                <a:ext uri="{FF2B5EF4-FFF2-40B4-BE49-F238E27FC236}">
                  <a16:creationId xmlns:a16="http://schemas.microsoft.com/office/drawing/2014/main" id="{AE3099BF-1984-D049-C3DE-2BE889C67BA4}"/>
                </a:ext>
              </a:extLst>
            </p:cNvPr>
            <p:cNvSpPr/>
            <p:nvPr/>
          </p:nvSpPr>
          <p:spPr>
            <a:xfrm>
              <a:off x="2059424" y="3004804"/>
              <a:ext cx="4207824" cy="12701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2500"/>
                </a:lnSpc>
              </a:pPr>
              <a:r>
                <a:rPr lang="ko-KR" altLang="en-US" dirty="0"/>
                <a:t>사용자에게 </a:t>
              </a:r>
              <a:r>
                <a:rPr lang="ko-KR" altLang="en-US" dirty="0" err="1"/>
                <a:t>진료과</a:t>
              </a:r>
              <a:r>
                <a:rPr lang="ko-KR" altLang="en-US" dirty="0"/>
                <a:t> 및 증상별 </a:t>
              </a:r>
              <a:r>
                <a:rPr lang="ko-KR" altLang="en-US" dirty="0" err="1"/>
                <a:t>진료과</a:t>
              </a:r>
              <a:r>
                <a:rPr lang="ko-KR" altLang="en-US" dirty="0"/>
                <a:t> 선택지를 제공하여 직관적인 탐색이 용이하도록 구성함</a:t>
              </a:r>
              <a:r>
                <a:rPr lang="en-US" altLang="ko-KR" dirty="0"/>
                <a:t>.</a:t>
              </a:r>
              <a:endParaRPr lang="en-US" dirty="0"/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1516750F-7E1B-E1A8-3EEC-C07DA0E1AA9A}"/>
              </a:ext>
            </a:extLst>
          </p:cNvPr>
          <p:cNvGrpSpPr/>
          <p:nvPr/>
        </p:nvGrpSpPr>
        <p:grpSpPr>
          <a:xfrm>
            <a:off x="1408126" y="2523252"/>
            <a:ext cx="10230041" cy="866076"/>
            <a:chOff x="6863215" y="2547580"/>
            <a:chExt cx="4024313" cy="996295"/>
          </a:xfrm>
        </p:grpSpPr>
        <p:sp>
          <p:nvSpPr>
            <p:cNvPr id="5" name="Text 5">
              <a:extLst>
                <a:ext uri="{FF2B5EF4-FFF2-40B4-BE49-F238E27FC236}">
                  <a16:creationId xmlns:a16="http://schemas.microsoft.com/office/drawing/2014/main" id="{127D8AD9-8275-7DE4-7FC8-D901C836E98B}"/>
                </a:ext>
              </a:extLst>
            </p:cNvPr>
            <p:cNvSpPr/>
            <p:nvPr/>
          </p:nvSpPr>
          <p:spPr>
            <a:xfrm>
              <a:off x="6863215" y="2547580"/>
              <a:ext cx="2516624" cy="3101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r>
                <a:rPr lang="ko-KR" altLang="ko-KR" b="1" dirty="0" err="1"/>
                <a:t>진료과</a:t>
              </a:r>
              <a:r>
                <a:rPr lang="ko-KR" altLang="ko-KR" b="1" dirty="0"/>
                <a:t> 선택 후 화면</a:t>
              </a:r>
              <a:endParaRPr lang="ko-KR" altLang="ko-KR" dirty="0"/>
            </a:p>
          </p:txBody>
        </p:sp>
        <p:sp>
          <p:nvSpPr>
            <p:cNvPr id="23" name="Text 6">
              <a:extLst>
                <a:ext uri="{FF2B5EF4-FFF2-40B4-BE49-F238E27FC236}">
                  <a16:creationId xmlns:a16="http://schemas.microsoft.com/office/drawing/2014/main" id="{09BD29EB-2271-97E2-E6C4-2688DE81B375}"/>
                </a:ext>
              </a:extLst>
            </p:cNvPr>
            <p:cNvSpPr/>
            <p:nvPr/>
          </p:nvSpPr>
          <p:spPr>
            <a:xfrm>
              <a:off x="6863215" y="3056097"/>
              <a:ext cx="4024313" cy="4877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2500"/>
                </a:lnSpc>
              </a:pPr>
              <a:r>
                <a:rPr lang="ko-KR" altLang="en-US" dirty="0"/>
                <a:t>지도를 중심으로 태그 기반 검색을 지원하며</a:t>
              </a:r>
              <a:r>
                <a:rPr lang="en-US" altLang="ko-KR" dirty="0"/>
                <a:t>, </a:t>
              </a:r>
              <a:r>
                <a:rPr lang="ko-KR" altLang="en-US" dirty="0"/>
                <a:t>태그 선택 시 검색창에 자동 입력되고 주변 약국 및 </a:t>
              </a:r>
              <a:endParaRPr lang="en-US" altLang="ko-KR" dirty="0"/>
            </a:p>
            <a:p>
              <a:pPr>
                <a:lnSpc>
                  <a:spcPts val="2500"/>
                </a:lnSpc>
              </a:pPr>
              <a:r>
                <a:rPr lang="ko-KR" altLang="en-US" dirty="0"/>
                <a:t>진료과별 병원이 거리순으로 리스트에 출력되도록 구성함</a:t>
              </a:r>
              <a:r>
                <a:rPr lang="en-US" altLang="ko-KR" dirty="0"/>
                <a:t>.</a:t>
              </a:r>
              <a:endParaRPr lang="en-US" dirty="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233EABB8-D3FC-9E52-9DAB-7DC69806CADB}"/>
              </a:ext>
            </a:extLst>
          </p:cNvPr>
          <p:cNvSpPr txBox="1"/>
          <p:nvPr/>
        </p:nvSpPr>
        <p:spPr>
          <a:xfrm>
            <a:off x="1408126" y="4924310"/>
            <a:ext cx="1050650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b="1" dirty="0"/>
              <a:t>응급실 관련 화면</a:t>
            </a:r>
            <a:endParaRPr lang="ko-KR" altLang="ko-KR" dirty="0"/>
          </a:p>
          <a:p>
            <a:endParaRPr lang="en-US" altLang="ko-KR" b="1" dirty="0"/>
          </a:p>
          <a:p>
            <a:r>
              <a:rPr lang="ko-KR" altLang="en-US" dirty="0"/>
              <a:t>응급실은 진료과나 태그를 통해 접근하며</a:t>
            </a:r>
            <a:r>
              <a:rPr lang="en-US" altLang="ko-KR" dirty="0"/>
              <a:t>, </a:t>
            </a:r>
            <a:r>
              <a:rPr lang="ko-KR" altLang="en-US" dirty="0"/>
              <a:t>마커 클릭 시 경로 안내와 함께 잔여 병상 수 및 의료장비 여부를 </a:t>
            </a:r>
            <a:r>
              <a:rPr lang="en-US" altLang="ko-KR" dirty="0"/>
              <a:t>WebSocket</a:t>
            </a:r>
            <a:r>
              <a:rPr lang="ko-KR" altLang="en-US" dirty="0"/>
              <a:t>으로 실시간 제공함</a:t>
            </a:r>
            <a:r>
              <a:rPr lang="en-US" altLang="ko-KR" dirty="0"/>
              <a:t>.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FB579AC-790A-0ED0-01A9-44E7F1404523}"/>
              </a:ext>
            </a:extLst>
          </p:cNvPr>
          <p:cNvGrpSpPr/>
          <p:nvPr/>
        </p:nvGrpSpPr>
        <p:grpSpPr>
          <a:xfrm>
            <a:off x="1408126" y="3793411"/>
            <a:ext cx="10882314" cy="932541"/>
            <a:chOff x="6863215" y="2547580"/>
            <a:chExt cx="4024313" cy="932541"/>
          </a:xfrm>
        </p:grpSpPr>
        <p:sp>
          <p:nvSpPr>
            <p:cNvPr id="15" name="Text 5">
              <a:extLst>
                <a:ext uri="{FF2B5EF4-FFF2-40B4-BE49-F238E27FC236}">
                  <a16:creationId xmlns:a16="http://schemas.microsoft.com/office/drawing/2014/main" id="{7E47935A-A651-6982-22AE-864C78B392B7}"/>
                </a:ext>
              </a:extLst>
            </p:cNvPr>
            <p:cNvSpPr/>
            <p:nvPr/>
          </p:nvSpPr>
          <p:spPr>
            <a:xfrm>
              <a:off x="6863215" y="2547580"/>
              <a:ext cx="2516624" cy="3101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r>
                <a:rPr lang="ko-KR" altLang="ko-KR" b="1" dirty="0"/>
                <a:t>길 찾기 화면</a:t>
              </a:r>
            </a:p>
          </p:txBody>
        </p:sp>
        <p:sp>
          <p:nvSpPr>
            <p:cNvPr id="16" name="Text 6">
              <a:extLst>
                <a:ext uri="{FF2B5EF4-FFF2-40B4-BE49-F238E27FC236}">
                  <a16:creationId xmlns:a16="http://schemas.microsoft.com/office/drawing/2014/main" id="{9659676A-BFBB-7A51-9EBC-EC20C3530EAB}"/>
                </a:ext>
              </a:extLst>
            </p:cNvPr>
            <p:cNvSpPr/>
            <p:nvPr/>
          </p:nvSpPr>
          <p:spPr>
            <a:xfrm>
              <a:off x="6863215" y="3056096"/>
              <a:ext cx="4024313" cy="4240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2500"/>
                </a:lnSpc>
              </a:pPr>
              <a:r>
                <a:rPr lang="ko-KR" altLang="en-US" dirty="0"/>
                <a:t>병원 마커 클릭 시 정보 오버레이와 경로를 안내하며</a:t>
              </a:r>
              <a:r>
                <a:rPr lang="en-US" altLang="ko-KR" dirty="0"/>
                <a:t>, </a:t>
              </a:r>
              <a:r>
                <a:rPr lang="ko-KR" altLang="en-US" dirty="0" err="1"/>
                <a:t>길찾기</a:t>
              </a:r>
              <a:r>
                <a:rPr lang="ko-KR" altLang="en-US" dirty="0"/>
                <a:t> 기능으로 </a:t>
              </a:r>
              <a:r>
                <a:rPr lang="en-US" altLang="ko-KR" dirty="0"/>
                <a:t>Google Map </a:t>
              </a:r>
              <a:r>
                <a:rPr lang="ko-KR" altLang="en-US" dirty="0"/>
                <a:t>기반 교통편 제공</a:t>
              </a:r>
              <a:r>
                <a:rPr lang="en-US" altLang="ko-KR" dirty="0"/>
                <a:t>.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6376998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ABD19E-997F-D477-3530-4F5F58AA7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1668" y="273685"/>
            <a:ext cx="3788664" cy="1325563"/>
          </a:xfrm>
        </p:spPr>
        <p:txBody>
          <a:bodyPr/>
          <a:lstStyle/>
          <a:p>
            <a:r>
              <a:rPr lang="ko-KR" altLang="en-US" dirty="0"/>
              <a:t>구현기능 시연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736844-A991-7C3C-5AD0-73BFF60B5B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6093" y="1598296"/>
            <a:ext cx="9139813" cy="7266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dirty="0"/>
              <a:t>정보 취약 계층 맞춤형 병원정보 제공 웹 애플리케이션</a:t>
            </a:r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5" name="그림 4">
            <a:hlinkClick r:id="rId2"/>
            <a:extLst>
              <a:ext uri="{FF2B5EF4-FFF2-40B4-BE49-F238E27FC236}">
                <a16:creationId xmlns:a16="http://schemas.microsoft.com/office/drawing/2014/main" id="{6C480296-FDE1-4581-3768-EE3CDD22F4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4759" y="2324952"/>
            <a:ext cx="7622479" cy="4040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6097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58766D-43B1-55FA-826E-4D7AADE5C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3632" y="355981"/>
            <a:ext cx="4364736" cy="1325563"/>
          </a:xfrm>
        </p:spPr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학기 진행 계획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D9F831-7184-FBA7-2FF3-CA83777808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5916" y="1880489"/>
            <a:ext cx="744016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ko-KR" sz="2000" dirty="0"/>
              <a:t>현재까지는 병원 검색 및 정보 제공이라는 메인 기능 구현에 집중하여 프로젝트를 진행해왔습니다</a:t>
            </a:r>
            <a:r>
              <a:rPr lang="en-US" altLang="ko-KR" sz="2000" dirty="0"/>
              <a:t>. </a:t>
            </a:r>
            <a:r>
              <a:rPr lang="ko-KR" altLang="ko-KR" sz="2000" dirty="0"/>
              <a:t>앞으로는 이러한 핵심 기능 외에도 로그인 및 마이페이지 기능을 추가하여 사용자 개인화 경험을 제공할 수 있도록 확장할 예정입니다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br>
              <a:rPr lang="en-US" altLang="ko-KR" sz="2000" dirty="0"/>
            </a:br>
            <a:r>
              <a:rPr lang="ko-KR" altLang="ko-KR" sz="2000" dirty="0"/>
              <a:t>또한</a:t>
            </a:r>
            <a:r>
              <a:rPr lang="en-US" altLang="ko-KR" sz="2000" dirty="0"/>
              <a:t>, </a:t>
            </a:r>
            <a:r>
              <a:rPr lang="ko-KR" altLang="ko-KR" sz="2000" dirty="0"/>
              <a:t>현재 성남시로 한정된 서비스 지역을 타 지역으로 확대할 수 있도록 데이터 연동 범위를 넓히고자 합니다</a:t>
            </a:r>
            <a:r>
              <a:rPr lang="en-US" altLang="ko-KR" sz="2000" dirty="0"/>
              <a:t>.</a:t>
            </a:r>
            <a:br>
              <a:rPr lang="en-US" altLang="ko-KR" sz="2000" dirty="0"/>
            </a:br>
            <a:r>
              <a:rPr lang="ko-KR" altLang="ko-KR" sz="2000" dirty="0"/>
              <a:t>추가적으로</a:t>
            </a:r>
            <a:r>
              <a:rPr lang="en-US" altLang="ko-KR" sz="2000" dirty="0"/>
              <a:t>, </a:t>
            </a:r>
            <a:r>
              <a:rPr lang="ko-KR" altLang="ko-KR" sz="2000" dirty="0"/>
              <a:t>프로젝트의 활용도를 높이기 위해 향후에는 모바일 애플리케이션 형태로 개발하여 앱스토어 또는 구글 플레이스토어에 배포하는 방안도 함께 고려하고 있습니다</a:t>
            </a:r>
            <a:r>
              <a:rPr lang="en-US" altLang="ko-KR" sz="2000" b="1" dirty="0"/>
              <a:t>.</a:t>
            </a:r>
            <a:endParaRPr lang="ko-KR" altLang="ko-KR" sz="2000" dirty="0"/>
          </a:p>
          <a:p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8515156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706A22-1325-BB5C-B1E3-2F385B86F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4548" y="2766218"/>
            <a:ext cx="3422904" cy="1325563"/>
          </a:xfrm>
        </p:spPr>
        <p:txBody>
          <a:bodyPr/>
          <a:lstStyle/>
          <a:p>
            <a:r>
              <a:rPr lang="ko-KR" altLang="en-US" b="1" dirty="0"/>
              <a:t>결과 및 고찰</a:t>
            </a:r>
          </a:p>
        </p:txBody>
      </p:sp>
    </p:spTree>
    <p:extLst>
      <p:ext uri="{BB962C8B-B14F-4D97-AF65-F5344CB8AC3E}">
        <p14:creationId xmlns:p14="http://schemas.microsoft.com/office/powerpoint/2010/main" val="34593958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F68F04-7E8B-08D0-179E-2F05E073E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8064" y="264541"/>
            <a:ext cx="6595872" cy="1325563"/>
          </a:xfrm>
        </p:spPr>
        <p:txBody>
          <a:bodyPr/>
          <a:lstStyle/>
          <a:p>
            <a:r>
              <a:rPr lang="ko-KR" altLang="en-US" dirty="0"/>
              <a:t>프로젝트 소감 및 느낀 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6F6467-9611-6768-9854-AEA486057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ko-KR" sz="2000" dirty="0"/>
              <a:t>이번 프로젝트는 단순한 기능 구현을 넘어서</a:t>
            </a:r>
            <a:r>
              <a:rPr lang="en-US" altLang="ko-KR" sz="2000" dirty="0"/>
              <a:t>, </a:t>
            </a:r>
            <a:r>
              <a:rPr lang="ko-KR" altLang="ko-KR" sz="2000" dirty="0"/>
              <a:t>실제 사용자에게 실질적인 도움이 되는 서비스를 만들어보자는 공통된 목표 아래 진행되었습니다</a:t>
            </a:r>
            <a:r>
              <a:rPr lang="en-US" altLang="ko-KR" sz="2000" dirty="0"/>
              <a:t>. </a:t>
            </a:r>
            <a:r>
              <a:rPr lang="ko-KR" altLang="ko-KR" sz="2000" dirty="0"/>
              <a:t>처음에는 각자의 역할에 대한 부담도 있었고</a:t>
            </a:r>
            <a:r>
              <a:rPr lang="en-US" altLang="ko-KR" sz="2000" dirty="0"/>
              <a:t>, </a:t>
            </a:r>
            <a:r>
              <a:rPr lang="ko-KR" altLang="ko-KR" sz="2000" dirty="0"/>
              <a:t>예상치 못한 문제들에 부딪히기도 했지만</a:t>
            </a:r>
            <a:r>
              <a:rPr lang="en-US" altLang="ko-KR" sz="2000" dirty="0"/>
              <a:t>, </a:t>
            </a:r>
            <a:r>
              <a:rPr lang="ko-KR" altLang="ko-KR" sz="2000" dirty="0"/>
              <a:t>팀원 모두가 끝까지 서로를 격려하고 협력하면서 하나하나 극복해 나갔습니다</a:t>
            </a:r>
            <a:r>
              <a:rPr lang="en-US" altLang="ko-KR" sz="2000" dirty="0"/>
              <a:t>.</a:t>
            </a:r>
            <a:endParaRPr lang="ko-KR" altLang="ko-KR" sz="2000" dirty="0"/>
          </a:p>
          <a:p>
            <a:pPr marL="0" indent="0">
              <a:buNone/>
            </a:pPr>
            <a:r>
              <a:rPr lang="ko-KR" altLang="ko-KR" sz="2000" dirty="0"/>
              <a:t>혼자였다면 중간에 포기하고 싶을 만큼 힘든 순간도 있었지만</a:t>
            </a:r>
            <a:r>
              <a:rPr lang="en-US" altLang="ko-KR" sz="2000" dirty="0"/>
              <a:t>, </a:t>
            </a:r>
            <a:r>
              <a:rPr lang="ko-KR" altLang="ko-KR" sz="2000" dirty="0"/>
              <a:t>함께</a:t>
            </a:r>
            <a:r>
              <a:rPr lang="en-US" altLang="ko-KR" sz="2000" dirty="0"/>
              <a:t> </a:t>
            </a:r>
            <a:r>
              <a:rPr lang="ko-KR" altLang="ko-KR" sz="2000" dirty="0"/>
              <a:t>였기에 끝까지 해낼 수 있었습니다</a:t>
            </a:r>
            <a:r>
              <a:rPr lang="en-US" altLang="ko-KR" sz="2000" dirty="0"/>
              <a:t>. </a:t>
            </a:r>
            <a:r>
              <a:rPr lang="ko-KR" altLang="ko-KR" sz="2000" dirty="0"/>
              <a:t>그 과정에서 기술적인 역량은 물론</a:t>
            </a:r>
            <a:r>
              <a:rPr lang="en-US" altLang="ko-KR" sz="2000" dirty="0"/>
              <a:t>, </a:t>
            </a:r>
            <a:r>
              <a:rPr lang="ko-KR" altLang="ko-KR" sz="2000" dirty="0"/>
              <a:t>진정한 협업의 가치와 팀워크의 소중함을 몸소 느낄 수 있었습니다</a:t>
            </a:r>
            <a:r>
              <a:rPr lang="en-US" altLang="ko-KR" sz="2000" dirty="0"/>
              <a:t>.</a:t>
            </a:r>
            <a:endParaRPr lang="ko-KR" altLang="ko-KR" sz="2000" dirty="0"/>
          </a:p>
          <a:p>
            <a:pPr marL="0" indent="0">
              <a:buNone/>
            </a:pPr>
            <a:r>
              <a:rPr lang="ko-KR" altLang="ko-KR" sz="2000" dirty="0"/>
              <a:t>우리 팀 모두에게 이번 프로젝트는 단순한 과제를 넘어</a:t>
            </a:r>
            <a:r>
              <a:rPr lang="en-US" altLang="ko-KR" sz="2000" dirty="0"/>
              <a:t>, </a:t>
            </a:r>
            <a:r>
              <a:rPr lang="ko-KR" altLang="ko-KR" sz="2000" dirty="0"/>
              <a:t>함께 성장하고 도전했던 뜻깊은 경험으로 오래 기억에 남을 것입니다</a:t>
            </a:r>
            <a:r>
              <a:rPr lang="en-US" altLang="ko-KR" sz="2000" dirty="0"/>
              <a:t>.</a:t>
            </a:r>
            <a:endParaRPr lang="ko-KR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3683688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650083-D82E-96C1-077A-55AD7FFD3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 dirty="0"/>
              <a:t>프로젝트 진행 시 어려웠던 점과 극복 사례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8A3755-241E-4FE0-6FD3-9C38BF75B7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000" dirty="0"/>
              <a:t>프로젝트를 진행하면서 가장 어려웠던 점 중 하나는 일정 관리였습니다</a:t>
            </a:r>
            <a:r>
              <a:rPr lang="en-US" altLang="ko-KR" sz="2000" dirty="0"/>
              <a:t>. </a:t>
            </a:r>
            <a:r>
              <a:rPr lang="ko-KR" altLang="en-US" sz="2000" dirty="0"/>
              <a:t>초반에는 주간 및 월간 단위로 일정을 계획했지만</a:t>
            </a:r>
            <a:r>
              <a:rPr lang="en-US" altLang="ko-KR" sz="2000" dirty="0"/>
              <a:t>, </a:t>
            </a:r>
            <a:r>
              <a:rPr lang="ko-KR" altLang="en-US" sz="2000" dirty="0"/>
              <a:t>진행 과정에서 예상하지 못한 변수들이 발생하며 일정이 자주 연기되곤 했습니다</a:t>
            </a:r>
            <a:r>
              <a:rPr lang="en-US" altLang="ko-KR" sz="2000" dirty="0"/>
              <a:t>. </a:t>
            </a:r>
            <a:r>
              <a:rPr lang="ko-KR" altLang="en-US" sz="2000" dirty="0"/>
              <a:t>그에 대한 즉각적인 대응이나 조율이 부족했던 점은 아쉬움으로 남습니다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하지만 이러한 시행착오를 통해 우리는 유동적인 일정을 고려해 여유 시간을 계획에 포함시키고</a:t>
            </a:r>
            <a:r>
              <a:rPr lang="en-US" altLang="ko-KR" sz="2000" dirty="0"/>
              <a:t>, </a:t>
            </a:r>
            <a:r>
              <a:rPr lang="ko-KR" altLang="en-US" sz="2000" dirty="0"/>
              <a:t>주기적인 회의를 통해 팀원들과 진행 상황을 자주 공유하는 방식으로 개선해 나갔습니다</a:t>
            </a:r>
            <a:r>
              <a:rPr lang="en-US" altLang="ko-KR" sz="2000" dirty="0"/>
              <a:t>. </a:t>
            </a:r>
            <a:r>
              <a:rPr lang="ko-KR" altLang="en-US" sz="2000" dirty="0"/>
              <a:t>그 결과 프로젝트 후반부에는 보다 안정적인 일정 관리와 원활한 협업이 </a:t>
            </a:r>
            <a:r>
              <a:rPr lang="ko-KR" altLang="en-US" sz="2000" dirty="0" err="1"/>
              <a:t>가능해졌고</a:t>
            </a:r>
            <a:r>
              <a:rPr lang="en-US" altLang="ko-KR" sz="2000" dirty="0"/>
              <a:t>, </a:t>
            </a:r>
            <a:r>
              <a:rPr lang="ko-KR" altLang="en-US" sz="2000" dirty="0"/>
              <a:t>문제 상황에도 빠르게 대처할 수 있는 유연한 팀워크를 갖추게 되었습니다</a:t>
            </a:r>
            <a:r>
              <a:rPr lang="en-US" altLang="ko-KR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565225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0728D4-6BEB-1C49-B3A9-CDDF8C35F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2556" y="2766218"/>
            <a:ext cx="7866888" cy="1325563"/>
          </a:xfrm>
        </p:spPr>
        <p:txBody>
          <a:bodyPr/>
          <a:lstStyle/>
          <a:p>
            <a:pPr algn="ctr"/>
            <a:r>
              <a:rPr lang="ko-KR" altLang="en-US" dirty="0"/>
              <a:t>이상으로 발표를 마치겠습니다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감사합니다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5552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812</TotalTime>
  <Words>896</Words>
  <Application>Microsoft Office PowerPoint</Application>
  <PresentationFormat>와이드스크린</PresentationFormat>
  <Paragraphs>104</Paragraphs>
  <Slides>23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32" baseType="lpstr">
      <vt:lpstr>Gelasio</vt:lpstr>
      <vt:lpstr>Inter</vt:lpstr>
      <vt:lpstr>Inter Bold</vt:lpstr>
      <vt:lpstr>Nunito Semi Bold</vt:lpstr>
      <vt:lpstr>맑은 고딕</vt:lpstr>
      <vt:lpstr>Arial</vt:lpstr>
      <vt:lpstr>Lato</vt:lpstr>
      <vt:lpstr>PT Sans</vt:lpstr>
      <vt:lpstr>Office 테마</vt:lpstr>
      <vt:lpstr>프로젝트 구현 (캡스톤 디자인) 최종 발표</vt:lpstr>
      <vt:lpstr>Contents</vt:lpstr>
      <vt:lpstr>PowerPoint 프레젠테이션</vt:lpstr>
      <vt:lpstr>팀 소개</vt:lpstr>
      <vt:lpstr>PowerPoint 프레젠테이션</vt:lpstr>
      <vt:lpstr>PowerPoint 프레젠테이션</vt:lpstr>
      <vt:lpstr>개발 일정</vt:lpstr>
      <vt:lpstr>PowerPoint 프레젠테이션</vt:lpstr>
      <vt:lpstr>프로젝트 설계</vt:lpstr>
      <vt:lpstr>프로젝트 아키텍쳐 설계</vt:lpstr>
      <vt:lpstr>스토리 보드</vt:lpstr>
      <vt:lpstr>데이터베이스 설계</vt:lpstr>
      <vt:lpstr>데이터베이스 ERD</vt:lpstr>
      <vt:lpstr>테이블 명세서</vt:lpstr>
      <vt:lpstr>프로젝트 구현</vt:lpstr>
      <vt:lpstr>PowerPoint 프레젠테이션</vt:lpstr>
      <vt:lpstr>PowerPoint 프레젠테이션</vt:lpstr>
      <vt:lpstr>구현기능 시연</vt:lpstr>
      <vt:lpstr>2학기 진행 계획</vt:lpstr>
      <vt:lpstr>결과 및 고찰</vt:lpstr>
      <vt:lpstr>프로젝트 소감 및 느낀 점</vt:lpstr>
      <vt:lpstr>프로젝트 진행 시 어려웠던 점과 극복 사례</vt:lpstr>
      <vt:lpstr>이상으로 발표를 마치겠습니다. 감사합니다.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이희재</dc:creator>
  <cp:lastModifiedBy>이희재</cp:lastModifiedBy>
  <cp:revision>106</cp:revision>
  <dcterms:created xsi:type="dcterms:W3CDTF">2025-06-15T16:03:07Z</dcterms:created>
  <dcterms:modified xsi:type="dcterms:W3CDTF">2025-06-17T14:18:03Z</dcterms:modified>
</cp:coreProperties>
</file>